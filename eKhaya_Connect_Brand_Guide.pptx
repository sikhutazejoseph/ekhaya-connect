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8FAFC"/>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A3A"/>
        </a:solidFill>
      </p:bgPr>
    </p:bg>
    <p:spTree>
      <p:nvGrpSpPr>
        <p:cNvPr id="1" name=""/>
        <p:cNvGrpSpPr/>
        <p:nvPr/>
      </p:nvGrpSpPr>
      <p:grpSpPr>
        <a:xfrm>
          <a:off x="0" y="0"/>
          <a:ext cx="0" cy="0"/>
          <a:chOff x="0" y="0"/>
          <a:chExt cx="0" cy="0"/>
        </a:xfrm>
      </p:grpSpPr>
      <p:sp>
        <p:nvSpPr>
          <p:cNvPr id="2" name="Shape 0"/>
          <p:cNvSpPr/>
          <p:nvPr/>
        </p:nvSpPr>
        <p:spPr>
          <a:xfrm>
            <a:off x="8778240" y="-1280160"/>
            <a:ext cx="4754880" cy="4754880"/>
          </a:xfrm>
          <a:prstGeom prst="ellipse">
            <a:avLst/>
          </a:prstGeom>
          <a:solidFill>
            <a:srgbClr val="066B2E"/>
          </a:solidFill>
          <a:ln/>
        </p:spPr>
      </p:sp>
      <p:sp>
        <p:nvSpPr>
          <p:cNvPr id="3" name="Shape 1"/>
          <p:cNvSpPr/>
          <p:nvPr/>
        </p:nvSpPr>
        <p:spPr>
          <a:xfrm>
            <a:off x="9966960" y="4206240"/>
            <a:ext cx="3291840" cy="3291840"/>
          </a:xfrm>
          <a:prstGeom prst="ellipse">
            <a:avLst/>
          </a:prstGeom>
          <a:solidFill>
            <a:srgbClr val="F5B342">
              <a:alpha val="12000"/>
            </a:srgbClr>
          </a:solidFill>
          <a:ln/>
        </p:spPr>
      </p:sp>
      <p:sp>
        <p:nvSpPr>
          <p:cNvPr id="4" name="Shape 2"/>
          <p:cNvSpPr/>
          <p:nvPr/>
        </p:nvSpPr>
        <p:spPr>
          <a:xfrm>
            <a:off x="822960" y="960120"/>
            <a:ext cx="960120" cy="960120"/>
          </a:xfrm>
          <a:prstGeom prst="roundRect">
            <a:avLst>
              <a:gd name="adj" fmla="val 16000"/>
            </a:avLst>
          </a:prstGeom>
          <a:solidFill>
            <a:srgbClr val="FFFFFF"/>
          </a:solidFill>
          <a:ln w="12700">
            <a:solidFill>
              <a:srgbClr val="E2E8F0"/>
            </a:solidFill>
            <a:prstDash val="solid"/>
          </a:ln>
        </p:spPr>
      </p:sp>
      <p:pic>
        <p:nvPicPr>
          <p:cNvPr id="5" name="Image 0" descr="/home/claude/ekhaya/logo_icon_square.png">    </p:cNvPr>
          <p:cNvPicPr>
            <a:picLocks noChangeAspect="1"/>
          </p:cNvPicPr>
          <p:nvPr/>
        </p:nvPicPr>
        <p:blipFill>
          <a:blip r:embed="rId1"/>
          <a:stretch>
            <a:fillRect/>
          </a:stretch>
        </p:blipFill>
        <p:spPr>
          <a:xfrm>
            <a:off x="909371" y="1046531"/>
            <a:ext cx="787298" cy="787298"/>
          </a:xfrm>
          <a:prstGeom prst="rect">
            <a:avLst/>
          </a:prstGeom>
        </p:spPr>
      </p:pic>
      <p:sp>
        <p:nvSpPr>
          <p:cNvPr id="6" name="Text 3"/>
          <p:cNvSpPr/>
          <p:nvPr/>
        </p:nvSpPr>
        <p:spPr>
          <a:xfrm>
            <a:off x="777240" y="2057400"/>
            <a:ext cx="9601200" cy="914400"/>
          </a:xfrm>
          <a:prstGeom prst="rect">
            <a:avLst/>
          </a:prstGeom>
          <a:noFill/>
          <a:ln/>
        </p:spPr>
        <p:txBody>
          <a:bodyPr wrap="square" rtlCol="0" anchor="ctr"/>
          <a:lstStyle/>
          <a:p>
            <a:pPr indent="0" marL="0">
              <a:buNone/>
            </a:pPr>
            <a:r>
              <a:rPr lang="en-US" sz="4600" b="1" dirty="0">
                <a:solidFill>
                  <a:srgbClr val="FFFFFF"/>
                </a:solidFill>
                <a:latin typeface="Arial" pitchFamily="34" charset="0"/>
                <a:ea typeface="Arial" pitchFamily="34" charset="-122"/>
                <a:cs typeface="Arial" pitchFamily="34" charset="-120"/>
              </a:rPr>
              <a:t>eKhaya Connect</a:t>
            </a:r>
            <a:endParaRPr lang="en-US" sz="4600" dirty="0"/>
          </a:p>
        </p:txBody>
      </p:sp>
      <p:sp>
        <p:nvSpPr>
          <p:cNvPr id="7" name="Text 4"/>
          <p:cNvSpPr/>
          <p:nvPr/>
        </p:nvSpPr>
        <p:spPr>
          <a:xfrm>
            <a:off x="822960" y="2788920"/>
            <a:ext cx="9601200" cy="548640"/>
          </a:xfrm>
          <a:prstGeom prst="rect">
            <a:avLst/>
          </a:prstGeom>
          <a:noFill/>
          <a:ln/>
        </p:spPr>
        <p:txBody>
          <a:bodyPr wrap="square" rtlCol="0" anchor="ctr"/>
          <a:lstStyle/>
          <a:p>
            <a:pPr indent="0" marL="0">
              <a:buNone/>
            </a:pPr>
            <a:r>
              <a:rPr lang="en-US" sz="2200" b="1" dirty="0">
                <a:solidFill>
                  <a:srgbClr val="F5B342"/>
                </a:solidFill>
                <a:latin typeface="Arial" pitchFamily="34" charset="0"/>
                <a:ea typeface="Arial" pitchFamily="34" charset="-122"/>
                <a:cs typeface="Arial" pitchFamily="34" charset="-120"/>
              </a:rPr>
              <a:t>Brand Guide</a:t>
            </a:r>
            <a:endParaRPr lang="en-US" sz="2200" dirty="0"/>
          </a:p>
        </p:txBody>
      </p:sp>
      <p:sp>
        <p:nvSpPr>
          <p:cNvPr id="8" name="Text 5"/>
          <p:cNvSpPr/>
          <p:nvPr/>
        </p:nvSpPr>
        <p:spPr>
          <a:xfrm>
            <a:off x="822960" y="3429000"/>
            <a:ext cx="8686800" cy="457200"/>
          </a:xfrm>
          <a:prstGeom prst="rect">
            <a:avLst/>
          </a:prstGeom>
          <a:noFill/>
          <a:ln/>
        </p:spPr>
        <p:txBody>
          <a:bodyPr wrap="square" rtlCol="0" anchor="ctr"/>
          <a:lstStyle/>
          <a:p>
            <a:pPr indent="0" marL="0">
              <a:buNone/>
            </a:pPr>
            <a:r>
              <a:rPr lang="en-US" sz="1600" i="1" dirty="0">
                <a:solidFill>
                  <a:srgbClr val="CBD5C4"/>
                </a:solidFill>
                <a:latin typeface="Arial" pitchFamily="34" charset="0"/>
                <a:ea typeface="Arial" pitchFamily="34" charset="-122"/>
                <a:cs typeface="Arial" pitchFamily="34" charset="-120"/>
              </a:rPr>
              <a:t>Connecting Homes · Empowering Communities</a:t>
            </a:r>
            <a:endParaRPr lang="en-US" sz="1600" dirty="0"/>
          </a:p>
        </p:txBody>
      </p:sp>
      <p:sp>
        <p:nvSpPr>
          <p:cNvPr id="9" name="Shape 6"/>
          <p:cNvSpPr/>
          <p:nvPr/>
        </p:nvSpPr>
        <p:spPr>
          <a:xfrm>
            <a:off x="822960" y="4160520"/>
            <a:ext cx="2926080" cy="0"/>
          </a:xfrm>
          <a:prstGeom prst="line">
            <a:avLst/>
          </a:prstGeom>
          <a:noFill/>
          <a:ln w="25400">
            <a:solidFill>
              <a:srgbClr val="0B8C3F"/>
            </a:solidFill>
            <a:prstDash val="solid"/>
          </a:ln>
        </p:spPr>
      </p:sp>
      <p:sp>
        <p:nvSpPr>
          <p:cNvPr id="10" name="Text 7"/>
          <p:cNvSpPr/>
          <p:nvPr/>
        </p:nvSpPr>
        <p:spPr>
          <a:xfrm>
            <a:off x="822960" y="4343400"/>
            <a:ext cx="7589520" cy="548640"/>
          </a:xfrm>
          <a:prstGeom prst="rect">
            <a:avLst/>
          </a:prstGeom>
          <a:noFill/>
          <a:ln/>
        </p:spPr>
        <p:txBody>
          <a:bodyPr wrap="square" rtlCol="0" anchor="ctr"/>
          <a:lstStyle/>
          <a:p>
            <a:pPr indent="0" marL="0">
              <a:buNone/>
            </a:pPr>
            <a:r>
              <a:rPr lang="en-US" sz="1300" dirty="0">
                <a:solidFill>
                  <a:srgbClr val="CBD5C4"/>
                </a:solidFill>
                <a:latin typeface="Arial" pitchFamily="34" charset="0"/>
                <a:ea typeface="Arial" pitchFamily="34" charset="-122"/>
                <a:cs typeface="Arial" pitchFamily="34" charset="-120"/>
              </a:rPr>
              <a:t>Affordable, reliable internet that empowers Khayelitsha families and businesses.</a:t>
            </a:r>
            <a:endParaRPr lang="en-US" sz="1300" dirty="0"/>
          </a:p>
        </p:txBody>
      </p:sp>
      <p:sp>
        <p:nvSpPr>
          <p:cNvPr id="11" name="Text 8"/>
          <p:cNvSpPr/>
          <p:nvPr/>
        </p:nvSpPr>
        <p:spPr>
          <a:xfrm>
            <a:off x="822960" y="6172200"/>
            <a:ext cx="7315200" cy="320040"/>
          </a:xfrm>
          <a:prstGeom prst="rect">
            <a:avLst/>
          </a:prstGeom>
          <a:noFill/>
          <a:ln/>
        </p:spPr>
        <p:txBody>
          <a:bodyPr wrap="square" rtlCol="0" anchor="ctr"/>
          <a:lstStyle/>
          <a:p>
            <a:pPr indent="0" marL="0">
              <a:buNone/>
            </a:pPr>
            <a:r>
              <a:rPr lang="en-US" sz="1100" dirty="0">
                <a:solidFill>
                  <a:srgbClr val="CBD5C4"/>
                </a:solidFill>
                <a:latin typeface="Arial" pitchFamily="34" charset="0"/>
                <a:ea typeface="Arial" pitchFamily="34" charset="-122"/>
                <a:cs typeface="Arial" pitchFamily="34" charset="-120"/>
              </a:rPr>
              <a:t>063 328 4693   ·   </a:t>
            </a:r>
            <a:pPr indent="0" marL="0">
              <a:buNone/>
            </a:pPr>
            <a:r>
              <a:rPr lang="en-US" sz="1100" dirty="0">
                <a:solidFill>
                  <a:srgbClr val="CBD5C4"/>
                </a:solidFill>
                <a:latin typeface="Arial" pitchFamily="34" charset="0"/>
                <a:ea typeface="Arial" pitchFamily="34" charset="-122"/>
                <a:cs typeface="Arial" pitchFamily="34" charset="-120"/>
              </a:rPr>
              <a:t>info@ekhayaconnect.co.za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0B8C3F"/>
                </a:solidFill>
                <a:latin typeface="Arial" pitchFamily="34" charset="0"/>
                <a:ea typeface="Arial" pitchFamily="34" charset="-122"/>
                <a:cs typeface="Arial" pitchFamily="34" charset="-120"/>
              </a:rPr>
              <a:t>BRAND OVERVIEW</a:t>
            </a:r>
            <a:endParaRPr lang="en-US" sz="1300" dirty="0"/>
          </a:p>
        </p:txBody>
      </p:sp>
      <p:sp>
        <p:nvSpPr>
          <p:cNvPr id="3" name="Text 1"/>
          <p:cNvSpPr/>
          <p:nvPr/>
        </p:nvSpPr>
        <p:spPr>
          <a:xfrm>
            <a:off x="548640" y="658368"/>
            <a:ext cx="10789920" cy="658368"/>
          </a:xfrm>
          <a:prstGeom prst="rect">
            <a:avLst/>
          </a:prstGeom>
          <a:noFill/>
          <a:ln/>
        </p:spPr>
        <p:txBody>
          <a:bodyPr wrap="square" rtlCol="0" anchor="ctr"/>
          <a:lstStyle/>
          <a:p>
            <a:pPr indent="0" marL="0">
              <a:buNone/>
            </a:pPr>
            <a:r>
              <a:rPr lang="en-US" sz="3000" b="1" dirty="0">
                <a:solidFill>
                  <a:srgbClr val="1A2A3A"/>
                </a:solidFill>
                <a:latin typeface="Arial" pitchFamily="34" charset="0"/>
                <a:ea typeface="Arial" pitchFamily="34" charset="-122"/>
                <a:cs typeface="Arial" pitchFamily="34" charset="-120"/>
              </a:rPr>
              <a:t>Our Promise &amp; Positioning</a:t>
            </a:r>
            <a:endParaRPr lang="en-US" sz="3000" dirty="0"/>
          </a:p>
        </p:txBody>
      </p:sp>
      <p:sp>
        <p:nvSpPr>
          <p:cNvPr id="4" name="Shape 2"/>
          <p:cNvSpPr/>
          <p:nvPr/>
        </p:nvSpPr>
        <p:spPr>
          <a:xfrm>
            <a:off x="548640" y="1508760"/>
            <a:ext cx="11064240" cy="1417320"/>
          </a:xfrm>
          <a:prstGeom prst="roundRect">
            <a:avLst>
              <a:gd name="adj" fmla="val 6452"/>
            </a:avLst>
          </a:prstGeom>
          <a:solidFill>
            <a:srgbClr val="0B8C3F"/>
          </a:solidFill>
          <a:ln/>
        </p:spPr>
      </p:sp>
      <p:sp>
        <p:nvSpPr>
          <p:cNvPr id="5" name="Text 3"/>
          <p:cNvSpPr/>
          <p:nvPr/>
        </p:nvSpPr>
        <p:spPr>
          <a:xfrm>
            <a:off x="868680" y="1691640"/>
            <a:ext cx="5486400" cy="274320"/>
          </a:xfrm>
          <a:prstGeom prst="rect">
            <a:avLst/>
          </a:prstGeom>
          <a:noFill/>
          <a:ln/>
        </p:spPr>
        <p:txBody>
          <a:bodyPr wrap="square" rtlCol="0" anchor="ctr"/>
          <a:lstStyle/>
          <a:p>
            <a:pPr indent="0" marL="0">
              <a:buNone/>
            </a:pPr>
            <a:r>
              <a:rPr lang="en-US" sz="1100" b="1" spc="100" kern="0" dirty="0">
                <a:solidFill>
                  <a:srgbClr val="D9F2E2"/>
                </a:solidFill>
                <a:latin typeface="Arial" pitchFamily="34" charset="0"/>
                <a:ea typeface="Arial" pitchFamily="34" charset="-122"/>
                <a:cs typeface="Arial" pitchFamily="34" charset="-120"/>
              </a:rPr>
              <a:t>BRAND PROMISE</a:t>
            </a:r>
            <a:endParaRPr lang="en-US" sz="1100" dirty="0"/>
          </a:p>
        </p:txBody>
      </p:sp>
      <p:sp>
        <p:nvSpPr>
          <p:cNvPr id="6" name="Text 4"/>
          <p:cNvSpPr/>
          <p:nvPr/>
        </p:nvSpPr>
        <p:spPr>
          <a:xfrm>
            <a:off x="868680" y="1965960"/>
            <a:ext cx="10424160" cy="82296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Affordable, reliable internet that empowers Khayelitsha families and businesses.</a:t>
            </a:r>
            <a:endParaRPr lang="en-US" sz="1900" dirty="0"/>
          </a:p>
        </p:txBody>
      </p:sp>
      <p:sp>
        <p:nvSpPr>
          <p:cNvPr id="7" name="Shape 5"/>
          <p:cNvSpPr/>
          <p:nvPr/>
        </p:nvSpPr>
        <p:spPr>
          <a:xfrm>
            <a:off x="548640" y="3200400"/>
            <a:ext cx="11064240" cy="2286000"/>
          </a:xfrm>
          <a:prstGeom prst="roundRect">
            <a:avLst>
              <a:gd name="adj" fmla="val 4000"/>
            </a:avLst>
          </a:prstGeom>
          <a:solidFill>
            <a:srgbClr val="FFFFFF"/>
          </a:solidFill>
          <a:ln w="12700">
            <a:solidFill>
              <a:srgbClr val="E2E8F0"/>
            </a:solidFill>
            <a:prstDash val="solid"/>
          </a:ln>
          <a:effectLst>
            <a:outerShdw sx="100000" sy="100000" kx="0" ky="0" algn="bl" rotWithShape="0" blurRad="101600" dist="38100" dir="5400000">
              <a:srgbClr val="1A2A3A">
                <a:alpha val="12000"/>
              </a:srgbClr>
            </a:outerShdw>
          </a:effectLst>
        </p:spPr>
      </p:sp>
      <p:sp>
        <p:nvSpPr>
          <p:cNvPr id="8" name="Text 6"/>
          <p:cNvSpPr/>
          <p:nvPr/>
        </p:nvSpPr>
        <p:spPr>
          <a:xfrm>
            <a:off x="868680" y="3401568"/>
            <a:ext cx="5486400" cy="274320"/>
          </a:xfrm>
          <a:prstGeom prst="rect">
            <a:avLst/>
          </a:prstGeom>
          <a:noFill/>
          <a:ln/>
        </p:spPr>
        <p:txBody>
          <a:bodyPr wrap="square" rtlCol="0" anchor="ctr"/>
          <a:lstStyle/>
          <a:p>
            <a:pPr indent="0" marL="0">
              <a:buNone/>
            </a:pPr>
            <a:r>
              <a:rPr lang="en-US" sz="1100" b="1" spc="100" kern="0" dirty="0">
                <a:solidFill>
                  <a:srgbClr val="F5B342"/>
                </a:solidFill>
                <a:latin typeface="Arial" pitchFamily="34" charset="0"/>
                <a:ea typeface="Arial" pitchFamily="34" charset="-122"/>
                <a:cs typeface="Arial" pitchFamily="34" charset="-120"/>
              </a:rPr>
              <a:t>POSITIONING STATEMENT</a:t>
            </a:r>
            <a:endParaRPr lang="en-US" sz="1100" dirty="0"/>
          </a:p>
        </p:txBody>
      </p:sp>
      <p:sp>
        <p:nvSpPr>
          <p:cNvPr id="9" name="Text 7"/>
          <p:cNvSpPr/>
          <p:nvPr/>
        </p:nvSpPr>
        <p:spPr>
          <a:xfrm>
            <a:off x="868680" y="3703320"/>
            <a:ext cx="10424160" cy="1691640"/>
          </a:xfrm>
          <a:prstGeom prst="rect">
            <a:avLst/>
          </a:prstGeom>
          <a:noFill/>
          <a:ln/>
        </p:spPr>
        <p:txBody>
          <a:bodyPr wrap="square" rtlCol="0" anchor="t"/>
          <a:lstStyle/>
          <a:p>
            <a:pPr indent="0" marL="0">
              <a:lnSpc>
                <a:spcPct val="125000"/>
              </a:lnSpc>
              <a:buNone/>
            </a:pPr>
            <a:r>
              <a:rPr lang="en-US" sz="1500" i="1" dirty="0">
                <a:solidFill>
                  <a:srgbClr val="1A2A3A"/>
                </a:solidFill>
                <a:latin typeface="Arial" pitchFamily="34" charset="0"/>
                <a:ea typeface="Arial" pitchFamily="34" charset="-122"/>
                <a:cs typeface="Arial" pitchFamily="34" charset="-120"/>
              </a:rPr>
              <a:t>For Khayelitsha families who are frustrated with expensive mobile data and DStv they don't use, eKhaya Connect is the community-owned WISP that provides uncapped home Wi-Fi for the price of your TV — because internet should empower, not exhaust your budget.</a:t>
            </a:r>
            <a:endParaRPr lang="en-US" sz="1500" dirty="0"/>
          </a:p>
        </p:txBody>
      </p:sp>
      <p:sp>
        <p:nvSpPr>
          <p:cNvPr id="10" name="Text 8"/>
          <p:cNvSpPr/>
          <p:nvPr/>
        </p:nvSpPr>
        <p:spPr>
          <a:xfrm>
            <a:off x="548640" y="5669280"/>
            <a:ext cx="2743200" cy="274320"/>
          </a:xfrm>
          <a:prstGeom prst="rect">
            <a:avLst/>
          </a:prstGeom>
          <a:noFill/>
          <a:ln/>
        </p:spPr>
        <p:txBody>
          <a:bodyPr wrap="square" rtlCol="0" anchor="ctr"/>
          <a:lstStyle/>
          <a:p>
            <a:pPr indent="0" marL="0">
              <a:buNone/>
            </a:pPr>
            <a:r>
              <a:rPr lang="en-US" sz="1100" b="1" dirty="0">
                <a:solidFill>
                  <a:srgbClr val="0B8C3F"/>
                </a:solidFill>
                <a:latin typeface="Arial" pitchFamily="34" charset="0"/>
                <a:ea typeface="Arial" pitchFamily="34" charset="-122"/>
                <a:cs typeface="Arial" pitchFamily="34" charset="-120"/>
              </a:rPr>
              <a:t>Elevator Pitch</a:t>
            </a:r>
            <a:endParaRPr lang="en-US" sz="1100" dirty="0"/>
          </a:p>
        </p:txBody>
      </p:sp>
      <p:sp>
        <p:nvSpPr>
          <p:cNvPr id="11" name="Text 9"/>
          <p:cNvSpPr/>
          <p:nvPr/>
        </p:nvSpPr>
        <p:spPr>
          <a:xfrm>
            <a:off x="548640" y="5943600"/>
            <a:ext cx="10972800" cy="457200"/>
          </a:xfrm>
          <a:prstGeom prst="rect">
            <a:avLst/>
          </a:prstGeom>
          <a:noFill/>
          <a:ln/>
        </p:spPr>
        <p:txBody>
          <a:bodyPr wrap="square" rtlCol="0" anchor="ctr"/>
          <a:lstStyle/>
          <a:p>
            <a:pPr indent="0" marL="0">
              <a:buNone/>
            </a:pPr>
            <a:r>
              <a:rPr lang="en-US" sz="1300" i="1" dirty="0">
                <a:solidFill>
                  <a:srgbClr val="6C7A8A"/>
                </a:solidFill>
                <a:latin typeface="Arial" pitchFamily="34" charset="0"/>
                <a:ea typeface="Arial" pitchFamily="34" charset="-122"/>
                <a:cs typeface="Arial" pitchFamily="34" charset="-120"/>
              </a:rPr>
              <a:t>“eKhaya Connect brings uncapped home Wi-Fi to Khayelitsha for the price of your DStv.”</a:t>
            </a:r>
            <a:endParaRPr lang="en-US" sz="1300" dirty="0"/>
          </a:p>
        </p:txBody>
      </p:sp>
      <p:sp>
        <p:nvSpPr>
          <p:cNvPr id="12" name="Shape 10"/>
          <p:cNvSpPr/>
          <p:nvPr/>
        </p:nvSpPr>
        <p:spPr>
          <a:xfrm>
            <a:off x="457200" y="6400800"/>
            <a:ext cx="292608" cy="292608"/>
          </a:xfrm>
          <a:prstGeom prst="roundRect">
            <a:avLst>
              <a:gd name="adj" fmla="val 16000"/>
            </a:avLst>
          </a:prstGeom>
          <a:solidFill>
            <a:srgbClr val="FFFFFF"/>
          </a:solidFill>
          <a:ln w="12700">
            <a:solidFill>
              <a:srgbClr val="E2E8F0"/>
            </a:solidFill>
            <a:prstDash val="solid"/>
          </a:ln>
        </p:spPr>
      </p:sp>
      <p:pic>
        <p:nvPicPr>
          <p:cNvPr id="13" name="Image 0" descr="/home/claude/ekhaya/logo_icon_square.png">    </p:cNvPr>
          <p:cNvPicPr>
            <a:picLocks noChangeAspect="1"/>
          </p:cNvPicPr>
          <p:nvPr/>
        </p:nvPicPr>
        <p:blipFill>
          <a:blip r:embed="rId1"/>
          <a:stretch>
            <a:fillRect/>
          </a:stretch>
        </p:blipFill>
        <p:spPr>
          <a:xfrm>
            <a:off x="483535" y="6427135"/>
            <a:ext cx="239939" cy="239939"/>
          </a:xfrm>
          <a:prstGeom prst="rect">
            <a:avLst/>
          </a:prstGeom>
        </p:spPr>
      </p:pic>
      <p:sp>
        <p:nvSpPr>
          <p:cNvPr id="14" name="Text 11"/>
          <p:cNvSpPr/>
          <p:nvPr/>
        </p:nvSpPr>
        <p:spPr>
          <a:xfrm>
            <a:off x="841248" y="6419088"/>
            <a:ext cx="4572000" cy="292608"/>
          </a:xfrm>
          <a:prstGeom prst="rect">
            <a:avLst/>
          </a:prstGeom>
          <a:noFill/>
          <a:ln/>
        </p:spPr>
        <p:txBody>
          <a:bodyPr wrap="square" rtlCol="0" anchor="ctr"/>
          <a:lstStyle/>
          <a:p>
            <a:pPr indent="0" marL="0">
              <a:buNone/>
            </a:pPr>
            <a:r>
              <a:rPr lang="en-US" sz="900" dirty="0">
                <a:solidFill>
                  <a:srgbClr val="6C7A8A"/>
                </a:solidFill>
                <a:latin typeface="Arial" pitchFamily="34" charset="0"/>
                <a:ea typeface="Arial" pitchFamily="34" charset="-122"/>
                <a:cs typeface="Arial" pitchFamily="34" charset="-120"/>
              </a:rPr>
              <a:t>eKhaya Connect · Brand Guide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0B8C3F"/>
                </a:solidFill>
                <a:latin typeface="Arial" pitchFamily="34" charset="0"/>
                <a:ea typeface="Arial" pitchFamily="34" charset="-122"/>
                <a:cs typeface="Arial" pitchFamily="34" charset="-120"/>
              </a:rPr>
              <a:t>BRAND OVERVIEW</a:t>
            </a:r>
            <a:endParaRPr lang="en-US" sz="1300" dirty="0"/>
          </a:p>
        </p:txBody>
      </p:sp>
      <p:sp>
        <p:nvSpPr>
          <p:cNvPr id="3" name="Text 1"/>
          <p:cNvSpPr/>
          <p:nvPr/>
        </p:nvSpPr>
        <p:spPr>
          <a:xfrm>
            <a:off x="548640" y="658368"/>
            <a:ext cx="10789920" cy="658368"/>
          </a:xfrm>
          <a:prstGeom prst="rect">
            <a:avLst/>
          </a:prstGeom>
          <a:noFill/>
          <a:ln/>
        </p:spPr>
        <p:txBody>
          <a:bodyPr wrap="square" rtlCol="0" anchor="ctr"/>
          <a:lstStyle/>
          <a:p>
            <a:pPr indent="0" marL="0">
              <a:buNone/>
            </a:pPr>
            <a:r>
              <a:rPr lang="en-US" sz="3000" b="1" dirty="0">
                <a:solidFill>
                  <a:srgbClr val="1A2A3A"/>
                </a:solidFill>
                <a:latin typeface="Arial" pitchFamily="34" charset="0"/>
                <a:ea typeface="Arial" pitchFamily="34" charset="-122"/>
                <a:cs typeface="Arial" pitchFamily="34" charset="-120"/>
              </a:rPr>
              <a:t>Core Values</a:t>
            </a:r>
            <a:endParaRPr lang="en-US" sz="3000" dirty="0"/>
          </a:p>
        </p:txBody>
      </p:sp>
      <p:sp>
        <p:nvSpPr>
          <p:cNvPr id="4" name="Shape 2"/>
          <p:cNvSpPr/>
          <p:nvPr/>
        </p:nvSpPr>
        <p:spPr>
          <a:xfrm>
            <a:off x="548640" y="1600200"/>
            <a:ext cx="3520440" cy="3108960"/>
          </a:xfrm>
          <a:prstGeom prst="roundRect">
            <a:avLst>
              <a:gd name="adj" fmla="val 2353"/>
            </a:avLst>
          </a:prstGeom>
          <a:solidFill>
            <a:srgbClr val="FFFFFF"/>
          </a:solidFill>
          <a:ln w="12700">
            <a:solidFill>
              <a:srgbClr val="E2E8F0"/>
            </a:solidFill>
            <a:prstDash val="solid"/>
          </a:ln>
          <a:effectLst>
            <a:outerShdw sx="100000" sy="100000" kx="0" ky="0" algn="bl" rotWithShape="0" blurRad="88900" dist="38100" dir="5400000">
              <a:srgbClr val="1A2A3A">
                <a:alpha val="10000"/>
              </a:srgbClr>
            </a:outerShdw>
          </a:effectLst>
        </p:spPr>
      </p:sp>
      <p:sp>
        <p:nvSpPr>
          <p:cNvPr id="5" name="Shape 3"/>
          <p:cNvSpPr/>
          <p:nvPr/>
        </p:nvSpPr>
        <p:spPr>
          <a:xfrm>
            <a:off x="1943100" y="1965960"/>
            <a:ext cx="731520" cy="731520"/>
          </a:xfrm>
          <a:prstGeom prst="ellipse">
            <a:avLst/>
          </a:prstGeom>
          <a:solidFill>
            <a:srgbClr val="0B8C3F"/>
          </a:solidFill>
          <a:ln/>
        </p:spPr>
      </p:sp>
      <p:sp>
        <p:nvSpPr>
          <p:cNvPr id="6" name="Text 4"/>
          <p:cNvSpPr/>
          <p:nvPr/>
        </p:nvSpPr>
        <p:spPr>
          <a:xfrm>
            <a:off x="1943100" y="1965960"/>
            <a:ext cx="731520" cy="731520"/>
          </a:xfrm>
          <a:prstGeom prst="rect">
            <a:avLst/>
          </a:prstGeom>
          <a:noFill/>
          <a:ln/>
        </p:spPr>
        <p:txBody>
          <a:bodyPr wrap="square"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1</a:t>
            </a:r>
            <a:endParaRPr lang="en-US" sz="2600" dirty="0"/>
          </a:p>
        </p:txBody>
      </p:sp>
      <p:sp>
        <p:nvSpPr>
          <p:cNvPr id="7" name="Text 5"/>
          <p:cNvSpPr/>
          <p:nvPr/>
        </p:nvSpPr>
        <p:spPr>
          <a:xfrm>
            <a:off x="822960" y="2926080"/>
            <a:ext cx="2971800" cy="411480"/>
          </a:xfrm>
          <a:prstGeom prst="rect">
            <a:avLst/>
          </a:prstGeom>
          <a:noFill/>
          <a:ln/>
        </p:spPr>
        <p:txBody>
          <a:bodyPr wrap="square" rtlCol="0" anchor="ctr"/>
          <a:lstStyle/>
          <a:p>
            <a:pPr algn="ctr" indent="0" marL="0">
              <a:buNone/>
            </a:pPr>
            <a:r>
              <a:rPr lang="en-US" sz="1800" b="1" dirty="0">
                <a:solidFill>
                  <a:srgbClr val="1A2A3A"/>
                </a:solidFill>
                <a:latin typeface="Arial" pitchFamily="34" charset="0"/>
                <a:ea typeface="Arial" pitchFamily="34" charset="-122"/>
                <a:cs typeface="Arial" pitchFamily="34" charset="-120"/>
              </a:rPr>
              <a:t>Affordable</a:t>
            </a:r>
            <a:endParaRPr lang="en-US" sz="1800" dirty="0"/>
          </a:p>
        </p:txBody>
      </p:sp>
      <p:sp>
        <p:nvSpPr>
          <p:cNvPr id="8" name="Text 6"/>
          <p:cNvSpPr/>
          <p:nvPr/>
        </p:nvSpPr>
        <p:spPr>
          <a:xfrm>
            <a:off x="868680" y="3383280"/>
            <a:ext cx="2880360" cy="1188720"/>
          </a:xfrm>
          <a:prstGeom prst="rect">
            <a:avLst/>
          </a:prstGeom>
          <a:noFill/>
          <a:ln/>
        </p:spPr>
        <p:txBody>
          <a:bodyPr wrap="square" rtlCol="0" anchor="t"/>
          <a:lstStyle/>
          <a:p>
            <a:pPr algn="ctr" indent="0" marL="0">
              <a:lnSpc>
                <a:spcPct val="120000"/>
              </a:lnSpc>
              <a:buNone/>
            </a:pPr>
            <a:r>
              <a:rPr lang="en-US" sz="1250" dirty="0">
                <a:solidFill>
                  <a:srgbClr val="6C7A8A"/>
                </a:solidFill>
                <a:latin typeface="Arial" pitchFamily="34" charset="0"/>
                <a:ea typeface="Arial" pitchFamily="34" charset="-122"/>
                <a:cs typeface="Arial" pitchFamily="34" charset="-120"/>
              </a:rPr>
              <a:t>Internet should not be a luxury. We price our service to fit existing household budgets.</a:t>
            </a:r>
            <a:endParaRPr lang="en-US" sz="1250" dirty="0"/>
          </a:p>
        </p:txBody>
      </p:sp>
      <p:sp>
        <p:nvSpPr>
          <p:cNvPr id="9" name="Shape 7"/>
          <p:cNvSpPr/>
          <p:nvPr/>
        </p:nvSpPr>
        <p:spPr>
          <a:xfrm>
            <a:off x="4343400" y="1600200"/>
            <a:ext cx="3520440" cy="3108960"/>
          </a:xfrm>
          <a:prstGeom prst="roundRect">
            <a:avLst>
              <a:gd name="adj" fmla="val 2353"/>
            </a:avLst>
          </a:prstGeom>
          <a:solidFill>
            <a:srgbClr val="FFFFFF"/>
          </a:solidFill>
          <a:ln w="12700">
            <a:solidFill>
              <a:srgbClr val="E2E8F0"/>
            </a:solidFill>
            <a:prstDash val="solid"/>
          </a:ln>
          <a:effectLst>
            <a:outerShdw sx="100000" sy="100000" kx="0" ky="0" algn="bl" rotWithShape="0" blurRad="88900" dist="38100" dir="5400000">
              <a:srgbClr val="1A2A3A">
                <a:alpha val="10000"/>
              </a:srgbClr>
            </a:outerShdw>
          </a:effectLst>
        </p:spPr>
      </p:sp>
      <p:sp>
        <p:nvSpPr>
          <p:cNvPr id="10" name="Shape 8"/>
          <p:cNvSpPr/>
          <p:nvPr/>
        </p:nvSpPr>
        <p:spPr>
          <a:xfrm>
            <a:off x="5737860" y="1965960"/>
            <a:ext cx="731520" cy="731520"/>
          </a:xfrm>
          <a:prstGeom prst="ellipse">
            <a:avLst/>
          </a:prstGeom>
          <a:solidFill>
            <a:srgbClr val="F5B342"/>
          </a:solidFill>
          <a:ln/>
        </p:spPr>
      </p:sp>
      <p:sp>
        <p:nvSpPr>
          <p:cNvPr id="11" name="Text 9"/>
          <p:cNvSpPr/>
          <p:nvPr/>
        </p:nvSpPr>
        <p:spPr>
          <a:xfrm>
            <a:off x="5737860" y="1965960"/>
            <a:ext cx="731520" cy="731520"/>
          </a:xfrm>
          <a:prstGeom prst="rect">
            <a:avLst/>
          </a:prstGeom>
          <a:noFill/>
          <a:ln/>
        </p:spPr>
        <p:txBody>
          <a:bodyPr wrap="square"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2</a:t>
            </a:r>
            <a:endParaRPr lang="en-US" sz="2600" dirty="0"/>
          </a:p>
        </p:txBody>
      </p:sp>
      <p:sp>
        <p:nvSpPr>
          <p:cNvPr id="12" name="Text 10"/>
          <p:cNvSpPr/>
          <p:nvPr/>
        </p:nvSpPr>
        <p:spPr>
          <a:xfrm>
            <a:off x="4617720" y="2926080"/>
            <a:ext cx="2971800" cy="411480"/>
          </a:xfrm>
          <a:prstGeom prst="rect">
            <a:avLst/>
          </a:prstGeom>
          <a:noFill/>
          <a:ln/>
        </p:spPr>
        <p:txBody>
          <a:bodyPr wrap="square" rtlCol="0" anchor="ctr"/>
          <a:lstStyle/>
          <a:p>
            <a:pPr algn="ctr" indent="0" marL="0">
              <a:buNone/>
            </a:pPr>
            <a:r>
              <a:rPr lang="en-US" sz="1800" b="1" dirty="0">
                <a:solidFill>
                  <a:srgbClr val="1A2A3A"/>
                </a:solidFill>
                <a:latin typeface="Arial" pitchFamily="34" charset="0"/>
                <a:ea typeface="Arial" pitchFamily="34" charset="-122"/>
                <a:cs typeface="Arial" pitchFamily="34" charset="-120"/>
              </a:rPr>
              <a:t>Reliable</a:t>
            </a:r>
            <a:endParaRPr lang="en-US" sz="1800" dirty="0"/>
          </a:p>
        </p:txBody>
      </p:sp>
      <p:sp>
        <p:nvSpPr>
          <p:cNvPr id="13" name="Text 11"/>
          <p:cNvSpPr/>
          <p:nvPr/>
        </p:nvSpPr>
        <p:spPr>
          <a:xfrm>
            <a:off x="4663440" y="3383280"/>
            <a:ext cx="2880360" cy="1188720"/>
          </a:xfrm>
          <a:prstGeom prst="rect">
            <a:avLst/>
          </a:prstGeom>
          <a:noFill/>
          <a:ln/>
        </p:spPr>
        <p:txBody>
          <a:bodyPr wrap="square" rtlCol="0" anchor="t"/>
          <a:lstStyle/>
          <a:p>
            <a:pPr algn="ctr" indent="0" marL="0">
              <a:lnSpc>
                <a:spcPct val="120000"/>
              </a:lnSpc>
              <a:buNone/>
            </a:pPr>
            <a:r>
              <a:rPr lang="en-US" sz="1250" dirty="0">
                <a:solidFill>
                  <a:srgbClr val="6C7A8A"/>
                </a:solidFill>
                <a:latin typeface="Arial" pitchFamily="34" charset="0"/>
                <a:ea typeface="Arial" pitchFamily="34" charset="-122"/>
                <a:cs typeface="Arial" pitchFamily="34" charset="-120"/>
              </a:rPr>
              <a:t>Truly uncapped. No throttling. No hidden fair-usage policies.</a:t>
            </a:r>
            <a:endParaRPr lang="en-US" sz="1250" dirty="0"/>
          </a:p>
        </p:txBody>
      </p:sp>
      <p:sp>
        <p:nvSpPr>
          <p:cNvPr id="14" name="Shape 12"/>
          <p:cNvSpPr/>
          <p:nvPr/>
        </p:nvSpPr>
        <p:spPr>
          <a:xfrm>
            <a:off x="8138160" y="1600200"/>
            <a:ext cx="3520440" cy="3108960"/>
          </a:xfrm>
          <a:prstGeom prst="roundRect">
            <a:avLst>
              <a:gd name="adj" fmla="val 2353"/>
            </a:avLst>
          </a:prstGeom>
          <a:solidFill>
            <a:srgbClr val="FFFFFF"/>
          </a:solidFill>
          <a:ln w="12700">
            <a:solidFill>
              <a:srgbClr val="E2E8F0"/>
            </a:solidFill>
            <a:prstDash val="solid"/>
          </a:ln>
          <a:effectLst>
            <a:outerShdw sx="100000" sy="100000" kx="0" ky="0" algn="bl" rotWithShape="0" blurRad="88900" dist="38100" dir="5400000">
              <a:srgbClr val="1A2A3A">
                <a:alpha val="10000"/>
              </a:srgbClr>
            </a:outerShdw>
          </a:effectLst>
        </p:spPr>
      </p:sp>
      <p:sp>
        <p:nvSpPr>
          <p:cNvPr id="15" name="Shape 13"/>
          <p:cNvSpPr/>
          <p:nvPr/>
        </p:nvSpPr>
        <p:spPr>
          <a:xfrm>
            <a:off x="9532620" y="1965960"/>
            <a:ext cx="731520" cy="731520"/>
          </a:xfrm>
          <a:prstGeom prst="ellipse">
            <a:avLst/>
          </a:prstGeom>
          <a:solidFill>
            <a:srgbClr val="0B8C3F"/>
          </a:solidFill>
          <a:ln/>
        </p:spPr>
      </p:sp>
      <p:sp>
        <p:nvSpPr>
          <p:cNvPr id="16" name="Text 14"/>
          <p:cNvSpPr/>
          <p:nvPr/>
        </p:nvSpPr>
        <p:spPr>
          <a:xfrm>
            <a:off x="9532620" y="1965960"/>
            <a:ext cx="731520" cy="731520"/>
          </a:xfrm>
          <a:prstGeom prst="rect">
            <a:avLst/>
          </a:prstGeom>
          <a:noFill/>
          <a:ln/>
        </p:spPr>
        <p:txBody>
          <a:bodyPr wrap="square"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3</a:t>
            </a:r>
            <a:endParaRPr lang="en-US" sz="2600" dirty="0"/>
          </a:p>
        </p:txBody>
      </p:sp>
      <p:sp>
        <p:nvSpPr>
          <p:cNvPr id="17" name="Text 15"/>
          <p:cNvSpPr/>
          <p:nvPr/>
        </p:nvSpPr>
        <p:spPr>
          <a:xfrm>
            <a:off x="8412480" y="2926080"/>
            <a:ext cx="2971800" cy="411480"/>
          </a:xfrm>
          <a:prstGeom prst="rect">
            <a:avLst/>
          </a:prstGeom>
          <a:noFill/>
          <a:ln/>
        </p:spPr>
        <p:txBody>
          <a:bodyPr wrap="square" rtlCol="0" anchor="ctr"/>
          <a:lstStyle/>
          <a:p>
            <a:pPr algn="ctr" indent="0" marL="0">
              <a:buNone/>
            </a:pPr>
            <a:r>
              <a:rPr lang="en-US" sz="1800" b="1" dirty="0">
                <a:solidFill>
                  <a:srgbClr val="1A2A3A"/>
                </a:solidFill>
                <a:latin typeface="Arial" pitchFamily="34" charset="0"/>
                <a:ea typeface="Arial" pitchFamily="34" charset="-122"/>
                <a:cs typeface="Arial" pitchFamily="34" charset="-120"/>
              </a:rPr>
              <a:t>Local</a:t>
            </a:r>
            <a:endParaRPr lang="en-US" sz="1800" dirty="0"/>
          </a:p>
        </p:txBody>
      </p:sp>
      <p:sp>
        <p:nvSpPr>
          <p:cNvPr id="18" name="Text 16"/>
          <p:cNvSpPr/>
          <p:nvPr/>
        </p:nvSpPr>
        <p:spPr>
          <a:xfrm>
            <a:off x="8458200" y="3383280"/>
            <a:ext cx="2880360" cy="1188720"/>
          </a:xfrm>
          <a:prstGeom prst="rect">
            <a:avLst/>
          </a:prstGeom>
          <a:noFill/>
          <a:ln/>
        </p:spPr>
        <p:txBody>
          <a:bodyPr wrap="square" rtlCol="0" anchor="t"/>
          <a:lstStyle/>
          <a:p>
            <a:pPr algn="ctr" indent="0" marL="0">
              <a:lnSpc>
                <a:spcPct val="120000"/>
              </a:lnSpc>
              <a:buNone/>
            </a:pPr>
            <a:r>
              <a:rPr lang="en-US" sz="1250" dirty="0">
                <a:solidFill>
                  <a:srgbClr val="6C7A8A"/>
                </a:solidFill>
                <a:latin typeface="Arial" pitchFamily="34" charset="0"/>
                <a:ea typeface="Arial" pitchFamily="34" charset="-122"/>
                <a:cs typeface="Arial" pitchFamily="34" charset="-120"/>
              </a:rPr>
              <a:t>We are your neighbours, not a faceless corporation. Support in English and isiXhosa.</a:t>
            </a:r>
            <a:endParaRPr lang="en-US" sz="1250" dirty="0"/>
          </a:p>
        </p:txBody>
      </p:sp>
      <p:sp>
        <p:nvSpPr>
          <p:cNvPr id="19" name="Shape 17"/>
          <p:cNvSpPr/>
          <p:nvPr/>
        </p:nvSpPr>
        <p:spPr>
          <a:xfrm>
            <a:off x="457200" y="6400800"/>
            <a:ext cx="292608" cy="292608"/>
          </a:xfrm>
          <a:prstGeom prst="roundRect">
            <a:avLst>
              <a:gd name="adj" fmla="val 16000"/>
            </a:avLst>
          </a:prstGeom>
          <a:solidFill>
            <a:srgbClr val="FFFFFF"/>
          </a:solidFill>
          <a:ln w="12700">
            <a:solidFill>
              <a:srgbClr val="E2E8F0"/>
            </a:solidFill>
            <a:prstDash val="solid"/>
          </a:ln>
        </p:spPr>
      </p:sp>
      <p:pic>
        <p:nvPicPr>
          <p:cNvPr id="20" name="Image 0" descr="/home/claude/ekhaya/logo_icon_square.png">    </p:cNvPr>
          <p:cNvPicPr>
            <a:picLocks noChangeAspect="1"/>
          </p:cNvPicPr>
          <p:nvPr/>
        </p:nvPicPr>
        <p:blipFill>
          <a:blip r:embed="rId1"/>
          <a:stretch>
            <a:fillRect/>
          </a:stretch>
        </p:blipFill>
        <p:spPr>
          <a:xfrm>
            <a:off x="483535" y="6427135"/>
            <a:ext cx="239939" cy="239939"/>
          </a:xfrm>
          <a:prstGeom prst="rect">
            <a:avLst/>
          </a:prstGeom>
        </p:spPr>
      </p:pic>
      <p:sp>
        <p:nvSpPr>
          <p:cNvPr id="21" name="Text 18"/>
          <p:cNvSpPr/>
          <p:nvPr/>
        </p:nvSpPr>
        <p:spPr>
          <a:xfrm>
            <a:off x="841248" y="6419088"/>
            <a:ext cx="4572000" cy="292608"/>
          </a:xfrm>
          <a:prstGeom prst="rect">
            <a:avLst/>
          </a:prstGeom>
          <a:noFill/>
          <a:ln/>
        </p:spPr>
        <p:txBody>
          <a:bodyPr wrap="square" rtlCol="0" anchor="ctr"/>
          <a:lstStyle/>
          <a:p>
            <a:pPr indent="0" marL="0">
              <a:buNone/>
            </a:pPr>
            <a:r>
              <a:rPr lang="en-US" sz="900" dirty="0">
                <a:solidFill>
                  <a:srgbClr val="6C7A8A"/>
                </a:solidFill>
                <a:latin typeface="Arial" pitchFamily="34" charset="0"/>
                <a:ea typeface="Arial" pitchFamily="34" charset="-122"/>
                <a:cs typeface="Arial" pitchFamily="34" charset="-120"/>
              </a:rPr>
              <a:t>eKhaya Connect · Brand Guide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0B8C3F"/>
                </a:solidFill>
                <a:latin typeface="Arial" pitchFamily="34" charset="0"/>
                <a:ea typeface="Arial" pitchFamily="34" charset="-122"/>
                <a:cs typeface="Arial" pitchFamily="34" charset="-120"/>
              </a:rPr>
              <a:t>BRAND OVERVIEW</a:t>
            </a:r>
            <a:endParaRPr lang="en-US" sz="1300" dirty="0"/>
          </a:p>
        </p:txBody>
      </p:sp>
      <p:sp>
        <p:nvSpPr>
          <p:cNvPr id="3" name="Text 1"/>
          <p:cNvSpPr/>
          <p:nvPr/>
        </p:nvSpPr>
        <p:spPr>
          <a:xfrm>
            <a:off x="548640" y="658368"/>
            <a:ext cx="10789920" cy="658368"/>
          </a:xfrm>
          <a:prstGeom prst="rect">
            <a:avLst/>
          </a:prstGeom>
          <a:noFill/>
          <a:ln/>
        </p:spPr>
        <p:txBody>
          <a:bodyPr wrap="square" rtlCol="0" anchor="ctr"/>
          <a:lstStyle/>
          <a:p>
            <a:pPr indent="0" marL="0">
              <a:buNone/>
            </a:pPr>
            <a:r>
              <a:rPr lang="en-US" sz="3000" b="1" dirty="0">
                <a:solidFill>
                  <a:srgbClr val="1A2A3A"/>
                </a:solidFill>
                <a:latin typeface="Arial" pitchFamily="34" charset="0"/>
                <a:ea typeface="Arial" pitchFamily="34" charset="-122"/>
                <a:cs typeface="Arial" pitchFamily="34" charset="-120"/>
              </a:rPr>
              <a:t>Brand Personality</a:t>
            </a:r>
            <a:endParaRPr lang="en-US" sz="3000" dirty="0"/>
          </a:p>
        </p:txBody>
      </p:sp>
      <p:sp>
        <p:nvSpPr>
          <p:cNvPr id="4" name="Shape 2"/>
          <p:cNvSpPr/>
          <p:nvPr/>
        </p:nvSpPr>
        <p:spPr>
          <a:xfrm>
            <a:off x="548640" y="1691640"/>
            <a:ext cx="5349240" cy="1188720"/>
          </a:xfrm>
          <a:prstGeom prst="roundRect">
            <a:avLst>
              <a:gd name="adj" fmla="val 6154"/>
            </a:avLst>
          </a:prstGeom>
          <a:solidFill>
            <a:srgbClr val="FFFFFF"/>
          </a:solidFill>
          <a:ln w="12700">
            <a:solidFill>
              <a:srgbClr val="E2E8F0"/>
            </a:solidFill>
            <a:prstDash val="solid"/>
          </a:ln>
          <a:effectLst>
            <a:outerShdw sx="100000" sy="100000" kx="0" ky="0" algn="bl" rotWithShape="0" blurRad="76200" dist="25400" dir="5400000">
              <a:srgbClr val="1A2A3A">
                <a:alpha val="9000"/>
              </a:srgbClr>
            </a:outerShdw>
          </a:effectLst>
        </p:spPr>
      </p:sp>
      <p:sp>
        <p:nvSpPr>
          <p:cNvPr id="5" name="Shape 3"/>
          <p:cNvSpPr/>
          <p:nvPr/>
        </p:nvSpPr>
        <p:spPr>
          <a:xfrm>
            <a:off x="822960" y="1993392"/>
            <a:ext cx="585216" cy="585216"/>
          </a:xfrm>
          <a:prstGeom prst="ellipse">
            <a:avLst/>
          </a:prstGeom>
          <a:solidFill>
            <a:srgbClr val="0B8C3F"/>
          </a:solidFill>
          <a:ln/>
        </p:spPr>
      </p:sp>
      <p:sp>
        <p:nvSpPr>
          <p:cNvPr id="6" name="Text 4"/>
          <p:cNvSpPr/>
          <p:nvPr/>
        </p:nvSpPr>
        <p:spPr>
          <a:xfrm>
            <a:off x="822960" y="1993392"/>
            <a:ext cx="585216" cy="585216"/>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1600200" y="1856232"/>
            <a:ext cx="4069080" cy="365760"/>
          </a:xfrm>
          <a:prstGeom prst="rect">
            <a:avLst/>
          </a:prstGeom>
          <a:noFill/>
          <a:ln/>
        </p:spPr>
        <p:txBody>
          <a:bodyPr wrap="square" rtlCol="0" anchor="ctr"/>
          <a:lstStyle/>
          <a:p>
            <a:pPr indent="0" marL="0">
              <a:buNone/>
            </a:pPr>
            <a:r>
              <a:rPr lang="en-US" sz="1500" b="1" dirty="0">
                <a:solidFill>
                  <a:srgbClr val="1A2A3A"/>
                </a:solidFill>
                <a:latin typeface="Arial" pitchFamily="34" charset="0"/>
                <a:ea typeface="Arial" pitchFamily="34" charset="-122"/>
                <a:cs typeface="Arial" pitchFamily="34" charset="-120"/>
              </a:rPr>
              <a:t>Friendly &amp; Approachable</a:t>
            </a:r>
            <a:endParaRPr lang="en-US" sz="1500" dirty="0"/>
          </a:p>
        </p:txBody>
      </p:sp>
      <p:sp>
        <p:nvSpPr>
          <p:cNvPr id="8" name="Text 6"/>
          <p:cNvSpPr/>
          <p:nvPr/>
        </p:nvSpPr>
        <p:spPr>
          <a:xfrm>
            <a:off x="1600200" y="2221992"/>
            <a:ext cx="4069080" cy="548640"/>
          </a:xfrm>
          <a:prstGeom prst="rect">
            <a:avLst/>
          </a:prstGeom>
          <a:noFill/>
          <a:ln/>
        </p:spPr>
        <p:txBody>
          <a:bodyPr wrap="square" rtlCol="0" anchor="t"/>
          <a:lstStyle/>
          <a:p>
            <a:pPr indent="0" marL="0">
              <a:buNone/>
            </a:pPr>
            <a:r>
              <a:rPr lang="en-US" sz="1200" dirty="0">
                <a:solidFill>
                  <a:srgbClr val="6C7A8A"/>
                </a:solidFill>
                <a:latin typeface="Arial" pitchFamily="34" charset="0"/>
                <a:ea typeface="Arial" pitchFamily="34" charset="-122"/>
                <a:cs typeface="Arial" pitchFamily="34" charset="-120"/>
              </a:rPr>
              <a:t>We speak your language (literally).</a:t>
            </a:r>
            <a:endParaRPr lang="en-US" sz="1200" dirty="0"/>
          </a:p>
        </p:txBody>
      </p:sp>
      <p:sp>
        <p:nvSpPr>
          <p:cNvPr id="9" name="Shape 7"/>
          <p:cNvSpPr/>
          <p:nvPr/>
        </p:nvSpPr>
        <p:spPr>
          <a:xfrm>
            <a:off x="6263640" y="1691640"/>
            <a:ext cx="5349240" cy="1188720"/>
          </a:xfrm>
          <a:prstGeom prst="roundRect">
            <a:avLst>
              <a:gd name="adj" fmla="val 6154"/>
            </a:avLst>
          </a:prstGeom>
          <a:solidFill>
            <a:srgbClr val="FFFFFF"/>
          </a:solidFill>
          <a:ln w="12700">
            <a:solidFill>
              <a:srgbClr val="E2E8F0"/>
            </a:solidFill>
            <a:prstDash val="solid"/>
          </a:ln>
          <a:effectLst>
            <a:outerShdw sx="100000" sy="100000" kx="0" ky="0" algn="bl" rotWithShape="0" blurRad="76200" dist="25400" dir="5400000">
              <a:srgbClr val="1A2A3A">
                <a:alpha val="9000"/>
              </a:srgbClr>
            </a:outerShdw>
          </a:effectLst>
        </p:spPr>
      </p:sp>
      <p:sp>
        <p:nvSpPr>
          <p:cNvPr id="10" name="Shape 8"/>
          <p:cNvSpPr/>
          <p:nvPr/>
        </p:nvSpPr>
        <p:spPr>
          <a:xfrm>
            <a:off x="6537960" y="1993392"/>
            <a:ext cx="585216" cy="585216"/>
          </a:xfrm>
          <a:prstGeom prst="ellipse">
            <a:avLst/>
          </a:prstGeom>
          <a:solidFill>
            <a:srgbClr val="0B8C3F"/>
          </a:solidFill>
          <a:ln/>
        </p:spPr>
      </p:sp>
      <p:sp>
        <p:nvSpPr>
          <p:cNvPr id="11" name="Text 9"/>
          <p:cNvSpPr/>
          <p:nvPr/>
        </p:nvSpPr>
        <p:spPr>
          <a:xfrm>
            <a:off x="6537960" y="1993392"/>
            <a:ext cx="585216" cy="585216"/>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2" name="Text 10"/>
          <p:cNvSpPr/>
          <p:nvPr/>
        </p:nvSpPr>
        <p:spPr>
          <a:xfrm>
            <a:off x="7315200" y="1856232"/>
            <a:ext cx="4069080" cy="365760"/>
          </a:xfrm>
          <a:prstGeom prst="rect">
            <a:avLst/>
          </a:prstGeom>
          <a:noFill/>
          <a:ln/>
        </p:spPr>
        <p:txBody>
          <a:bodyPr wrap="square" rtlCol="0" anchor="ctr"/>
          <a:lstStyle/>
          <a:p>
            <a:pPr indent="0" marL="0">
              <a:buNone/>
            </a:pPr>
            <a:r>
              <a:rPr lang="en-US" sz="1500" b="1" dirty="0">
                <a:solidFill>
                  <a:srgbClr val="1A2A3A"/>
                </a:solidFill>
                <a:latin typeface="Arial" pitchFamily="34" charset="0"/>
                <a:ea typeface="Arial" pitchFamily="34" charset="-122"/>
                <a:cs typeface="Arial" pitchFamily="34" charset="-120"/>
              </a:rPr>
              <a:t>Trustworthy</a:t>
            </a:r>
            <a:endParaRPr lang="en-US" sz="1500" dirty="0"/>
          </a:p>
        </p:txBody>
      </p:sp>
      <p:sp>
        <p:nvSpPr>
          <p:cNvPr id="13" name="Text 11"/>
          <p:cNvSpPr/>
          <p:nvPr/>
        </p:nvSpPr>
        <p:spPr>
          <a:xfrm>
            <a:off x="7315200" y="2221992"/>
            <a:ext cx="4069080" cy="548640"/>
          </a:xfrm>
          <a:prstGeom prst="rect">
            <a:avLst/>
          </a:prstGeom>
          <a:noFill/>
          <a:ln/>
        </p:spPr>
        <p:txBody>
          <a:bodyPr wrap="square" rtlCol="0" anchor="t"/>
          <a:lstStyle/>
          <a:p>
            <a:pPr indent="0" marL="0">
              <a:buNone/>
            </a:pPr>
            <a:r>
              <a:rPr lang="en-US" sz="1200" dirty="0">
                <a:solidFill>
                  <a:srgbClr val="6C7A8A"/>
                </a:solidFill>
                <a:latin typeface="Arial" pitchFamily="34" charset="0"/>
                <a:ea typeface="Arial" pitchFamily="34" charset="-122"/>
                <a:cs typeface="Arial" pitchFamily="34" charset="-120"/>
              </a:rPr>
              <a:t>Transparent pricing, no hidden fees.</a:t>
            </a:r>
            <a:endParaRPr lang="en-US" sz="1200" dirty="0"/>
          </a:p>
        </p:txBody>
      </p:sp>
      <p:sp>
        <p:nvSpPr>
          <p:cNvPr id="14" name="Shape 12"/>
          <p:cNvSpPr/>
          <p:nvPr/>
        </p:nvSpPr>
        <p:spPr>
          <a:xfrm>
            <a:off x="548640" y="3200400"/>
            <a:ext cx="5349240" cy="1188720"/>
          </a:xfrm>
          <a:prstGeom prst="roundRect">
            <a:avLst>
              <a:gd name="adj" fmla="val 6154"/>
            </a:avLst>
          </a:prstGeom>
          <a:solidFill>
            <a:srgbClr val="FFFFFF"/>
          </a:solidFill>
          <a:ln w="12700">
            <a:solidFill>
              <a:srgbClr val="E2E8F0"/>
            </a:solidFill>
            <a:prstDash val="solid"/>
          </a:ln>
          <a:effectLst>
            <a:outerShdw sx="100000" sy="100000" kx="0" ky="0" algn="bl" rotWithShape="0" blurRad="76200" dist="25400" dir="5400000">
              <a:srgbClr val="1A2A3A">
                <a:alpha val="9000"/>
              </a:srgbClr>
            </a:outerShdw>
          </a:effectLst>
        </p:spPr>
      </p:sp>
      <p:sp>
        <p:nvSpPr>
          <p:cNvPr id="15" name="Shape 13"/>
          <p:cNvSpPr/>
          <p:nvPr/>
        </p:nvSpPr>
        <p:spPr>
          <a:xfrm>
            <a:off x="822960" y="3502152"/>
            <a:ext cx="585216" cy="585216"/>
          </a:xfrm>
          <a:prstGeom prst="ellipse">
            <a:avLst/>
          </a:prstGeom>
          <a:solidFill>
            <a:srgbClr val="0B8C3F"/>
          </a:solidFill>
          <a:ln/>
        </p:spPr>
      </p:sp>
      <p:sp>
        <p:nvSpPr>
          <p:cNvPr id="16" name="Text 14"/>
          <p:cNvSpPr/>
          <p:nvPr/>
        </p:nvSpPr>
        <p:spPr>
          <a:xfrm>
            <a:off x="822960" y="3502152"/>
            <a:ext cx="585216" cy="585216"/>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7" name="Text 15"/>
          <p:cNvSpPr/>
          <p:nvPr/>
        </p:nvSpPr>
        <p:spPr>
          <a:xfrm>
            <a:off x="1600200" y="3364992"/>
            <a:ext cx="4069080" cy="365760"/>
          </a:xfrm>
          <a:prstGeom prst="rect">
            <a:avLst/>
          </a:prstGeom>
          <a:noFill/>
          <a:ln/>
        </p:spPr>
        <p:txBody>
          <a:bodyPr wrap="square" rtlCol="0" anchor="ctr"/>
          <a:lstStyle/>
          <a:p>
            <a:pPr indent="0" marL="0">
              <a:buNone/>
            </a:pPr>
            <a:r>
              <a:rPr lang="en-US" sz="1500" b="1" dirty="0">
                <a:solidFill>
                  <a:srgbClr val="1A2A3A"/>
                </a:solidFill>
                <a:latin typeface="Arial" pitchFamily="34" charset="0"/>
                <a:ea typeface="Arial" pitchFamily="34" charset="-122"/>
                <a:cs typeface="Arial" pitchFamily="34" charset="-120"/>
              </a:rPr>
              <a:t>Community-Driven</a:t>
            </a:r>
            <a:endParaRPr lang="en-US" sz="1500" dirty="0"/>
          </a:p>
        </p:txBody>
      </p:sp>
      <p:sp>
        <p:nvSpPr>
          <p:cNvPr id="18" name="Text 16"/>
          <p:cNvSpPr/>
          <p:nvPr/>
        </p:nvSpPr>
        <p:spPr>
          <a:xfrm>
            <a:off x="1600200" y="3730752"/>
            <a:ext cx="4069080" cy="548640"/>
          </a:xfrm>
          <a:prstGeom prst="rect">
            <a:avLst/>
          </a:prstGeom>
          <a:noFill/>
          <a:ln/>
        </p:spPr>
        <p:txBody>
          <a:bodyPr wrap="square" rtlCol="0" anchor="t"/>
          <a:lstStyle/>
          <a:p>
            <a:pPr indent="0" marL="0">
              <a:buNone/>
            </a:pPr>
            <a:r>
              <a:rPr lang="en-US" sz="1200" dirty="0">
                <a:solidFill>
                  <a:srgbClr val="6C7A8A"/>
                </a:solidFill>
                <a:latin typeface="Arial" pitchFamily="34" charset="0"/>
                <a:ea typeface="Arial" pitchFamily="34" charset="-122"/>
                <a:cs typeface="Arial" pitchFamily="34" charset="-120"/>
              </a:rPr>
              <a:t>We invest profits back into Khayelitsha.</a:t>
            </a:r>
            <a:endParaRPr lang="en-US" sz="1200" dirty="0"/>
          </a:p>
        </p:txBody>
      </p:sp>
      <p:sp>
        <p:nvSpPr>
          <p:cNvPr id="19" name="Shape 17"/>
          <p:cNvSpPr/>
          <p:nvPr/>
        </p:nvSpPr>
        <p:spPr>
          <a:xfrm>
            <a:off x="6263640" y="3200400"/>
            <a:ext cx="5349240" cy="1188720"/>
          </a:xfrm>
          <a:prstGeom prst="roundRect">
            <a:avLst>
              <a:gd name="adj" fmla="val 6154"/>
            </a:avLst>
          </a:prstGeom>
          <a:solidFill>
            <a:srgbClr val="FFFFFF"/>
          </a:solidFill>
          <a:ln w="12700">
            <a:solidFill>
              <a:srgbClr val="E2E8F0"/>
            </a:solidFill>
            <a:prstDash val="solid"/>
          </a:ln>
          <a:effectLst>
            <a:outerShdw sx="100000" sy="100000" kx="0" ky="0" algn="bl" rotWithShape="0" blurRad="76200" dist="25400" dir="5400000">
              <a:srgbClr val="1A2A3A">
                <a:alpha val="9000"/>
              </a:srgbClr>
            </a:outerShdw>
          </a:effectLst>
        </p:spPr>
      </p:sp>
      <p:sp>
        <p:nvSpPr>
          <p:cNvPr id="20" name="Shape 18"/>
          <p:cNvSpPr/>
          <p:nvPr/>
        </p:nvSpPr>
        <p:spPr>
          <a:xfrm>
            <a:off x="6537960" y="3502152"/>
            <a:ext cx="585216" cy="585216"/>
          </a:xfrm>
          <a:prstGeom prst="ellipse">
            <a:avLst/>
          </a:prstGeom>
          <a:solidFill>
            <a:srgbClr val="0B8C3F"/>
          </a:solidFill>
          <a:ln/>
        </p:spPr>
      </p:sp>
      <p:sp>
        <p:nvSpPr>
          <p:cNvPr id="21" name="Text 19"/>
          <p:cNvSpPr/>
          <p:nvPr/>
        </p:nvSpPr>
        <p:spPr>
          <a:xfrm>
            <a:off x="6537960" y="3502152"/>
            <a:ext cx="585216" cy="585216"/>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2" name="Text 20"/>
          <p:cNvSpPr/>
          <p:nvPr/>
        </p:nvSpPr>
        <p:spPr>
          <a:xfrm>
            <a:off x="7315200" y="3364992"/>
            <a:ext cx="4069080" cy="365760"/>
          </a:xfrm>
          <a:prstGeom prst="rect">
            <a:avLst/>
          </a:prstGeom>
          <a:noFill/>
          <a:ln/>
        </p:spPr>
        <p:txBody>
          <a:bodyPr wrap="square" rtlCol="0" anchor="ctr"/>
          <a:lstStyle/>
          <a:p>
            <a:pPr indent="0" marL="0">
              <a:buNone/>
            </a:pPr>
            <a:r>
              <a:rPr lang="en-US" sz="1500" b="1" dirty="0">
                <a:solidFill>
                  <a:srgbClr val="1A2A3A"/>
                </a:solidFill>
                <a:latin typeface="Arial" pitchFamily="34" charset="0"/>
                <a:ea typeface="Arial" pitchFamily="34" charset="-122"/>
                <a:cs typeface="Arial" pitchFamily="34" charset="-120"/>
              </a:rPr>
              <a:t>Empowering</a:t>
            </a:r>
            <a:endParaRPr lang="en-US" sz="1500" dirty="0"/>
          </a:p>
        </p:txBody>
      </p:sp>
      <p:sp>
        <p:nvSpPr>
          <p:cNvPr id="23" name="Text 21"/>
          <p:cNvSpPr/>
          <p:nvPr/>
        </p:nvSpPr>
        <p:spPr>
          <a:xfrm>
            <a:off x="7315200" y="3730752"/>
            <a:ext cx="4069080" cy="548640"/>
          </a:xfrm>
          <a:prstGeom prst="rect">
            <a:avLst/>
          </a:prstGeom>
          <a:noFill/>
          <a:ln/>
        </p:spPr>
        <p:txBody>
          <a:bodyPr wrap="square" rtlCol="0" anchor="t"/>
          <a:lstStyle/>
          <a:p>
            <a:pPr indent="0" marL="0">
              <a:buNone/>
            </a:pPr>
            <a:r>
              <a:rPr lang="en-US" sz="1200" dirty="0">
                <a:solidFill>
                  <a:srgbClr val="6C7A8A"/>
                </a:solidFill>
                <a:latin typeface="Arial" pitchFamily="34" charset="0"/>
                <a:ea typeface="Arial" pitchFamily="34" charset="-122"/>
                <a:cs typeface="Arial" pitchFamily="34" charset="-120"/>
              </a:rPr>
              <a:t>We help families connect, learn, and grow.</a:t>
            </a:r>
            <a:endParaRPr lang="en-US" sz="1200" dirty="0"/>
          </a:p>
        </p:txBody>
      </p:sp>
      <p:sp>
        <p:nvSpPr>
          <p:cNvPr id="24" name="Shape 22"/>
          <p:cNvSpPr/>
          <p:nvPr/>
        </p:nvSpPr>
        <p:spPr>
          <a:xfrm>
            <a:off x="457200" y="6400800"/>
            <a:ext cx="292608" cy="292608"/>
          </a:xfrm>
          <a:prstGeom prst="roundRect">
            <a:avLst>
              <a:gd name="adj" fmla="val 16000"/>
            </a:avLst>
          </a:prstGeom>
          <a:solidFill>
            <a:srgbClr val="FFFFFF"/>
          </a:solidFill>
          <a:ln w="12700">
            <a:solidFill>
              <a:srgbClr val="E2E8F0"/>
            </a:solidFill>
            <a:prstDash val="solid"/>
          </a:ln>
        </p:spPr>
      </p:sp>
      <p:pic>
        <p:nvPicPr>
          <p:cNvPr id="25" name="Image 0" descr="/home/claude/ekhaya/logo_icon_square.png">    </p:cNvPr>
          <p:cNvPicPr>
            <a:picLocks noChangeAspect="1"/>
          </p:cNvPicPr>
          <p:nvPr/>
        </p:nvPicPr>
        <p:blipFill>
          <a:blip r:embed="rId1"/>
          <a:stretch>
            <a:fillRect/>
          </a:stretch>
        </p:blipFill>
        <p:spPr>
          <a:xfrm>
            <a:off x="483535" y="6427135"/>
            <a:ext cx="239939" cy="239939"/>
          </a:xfrm>
          <a:prstGeom prst="rect">
            <a:avLst/>
          </a:prstGeom>
        </p:spPr>
      </p:pic>
      <p:sp>
        <p:nvSpPr>
          <p:cNvPr id="26" name="Text 23"/>
          <p:cNvSpPr/>
          <p:nvPr/>
        </p:nvSpPr>
        <p:spPr>
          <a:xfrm>
            <a:off x="841248" y="6419088"/>
            <a:ext cx="4572000" cy="292608"/>
          </a:xfrm>
          <a:prstGeom prst="rect">
            <a:avLst/>
          </a:prstGeom>
          <a:noFill/>
          <a:ln/>
        </p:spPr>
        <p:txBody>
          <a:bodyPr wrap="square" rtlCol="0" anchor="ctr"/>
          <a:lstStyle/>
          <a:p>
            <a:pPr indent="0" marL="0">
              <a:buNone/>
            </a:pPr>
            <a:r>
              <a:rPr lang="en-US" sz="900" dirty="0">
                <a:solidFill>
                  <a:srgbClr val="6C7A8A"/>
                </a:solidFill>
                <a:latin typeface="Arial" pitchFamily="34" charset="0"/>
                <a:ea typeface="Arial" pitchFamily="34" charset="-122"/>
                <a:cs typeface="Arial" pitchFamily="34" charset="-120"/>
              </a:rPr>
              <a:t>eKhaya Connect · Brand Guide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0B8C3F"/>
                </a:solidFill>
                <a:latin typeface="Arial" pitchFamily="34" charset="0"/>
                <a:ea typeface="Arial" pitchFamily="34" charset="-122"/>
                <a:cs typeface="Arial" pitchFamily="34" charset="-120"/>
              </a:rPr>
              <a:t>LOGO</a:t>
            </a:r>
            <a:endParaRPr lang="en-US" sz="1300" dirty="0"/>
          </a:p>
        </p:txBody>
      </p:sp>
      <p:sp>
        <p:nvSpPr>
          <p:cNvPr id="3" name="Text 1"/>
          <p:cNvSpPr/>
          <p:nvPr/>
        </p:nvSpPr>
        <p:spPr>
          <a:xfrm>
            <a:off x="548640" y="658368"/>
            <a:ext cx="10789920" cy="658368"/>
          </a:xfrm>
          <a:prstGeom prst="rect">
            <a:avLst/>
          </a:prstGeom>
          <a:noFill/>
          <a:ln/>
        </p:spPr>
        <p:txBody>
          <a:bodyPr wrap="square" rtlCol="0" anchor="ctr"/>
          <a:lstStyle/>
          <a:p>
            <a:pPr indent="0" marL="0">
              <a:buNone/>
            </a:pPr>
            <a:r>
              <a:rPr lang="en-US" sz="3000" b="1" dirty="0">
                <a:solidFill>
                  <a:srgbClr val="1A2A3A"/>
                </a:solidFill>
                <a:latin typeface="Arial" pitchFamily="34" charset="0"/>
                <a:ea typeface="Arial" pitchFamily="34" charset="-122"/>
                <a:cs typeface="Arial" pitchFamily="34" charset="-120"/>
              </a:rPr>
              <a:t>Logo &amp; Usage</a:t>
            </a:r>
            <a:endParaRPr lang="en-US" sz="3000" dirty="0"/>
          </a:p>
        </p:txBody>
      </p:sp>
      <p:sp>
        <p:nvSpPr>
          <p:cNvPr id="4" name="Shape 2"/>
          <p:cNvSpPr/>
          <p:nvPr/>
        </p:nvSpPr>
        <p:spPr>
          <a:xfrm>
            <a:off x="548640" y="1554480"/>
            <a:ext cx="5212080" cy="1554480"/>
          </a:xfrm>
          <a:prstGeom prst="roundRect">
            <a:avLst>
              <a:gd name="adj" fmla="val 4706"/>
            </a:avLst>
          </a:prstGeom>
          <a:solidFill>
            <a:srgbClr val="FFFFFF"/>
          </a:solidFill>
          <a:ln w="12700">
            <a:solidFill>
              <a:srgbClr val="E2E8F0"/>
            </a:solidFill>
            <a:prstDash val="solid"/>
          </a:ln>
          <a:effectLst>
            <a:outerShdw sx="100000" sy="100000" kx="0" ky="0" algn="bl" rotWithShape="0" blurRad="76200" dist="25400" dir="5400000">
              <a:srgbClr val="1A2A3A">
                <a:alpha val="10000"/>
              </a:srgbClr>
            </a:outerShdw>
          </a:effectLst>
        </p:spPr>
      </p:sp>
      <p:pic>
        <p:nvPicPr>
          <p:cNvPr id="5" name="Image 0" descr="/home/claude/ekhaya/logo_icon_square.png">    </p:cNvPr>
          <p:cNvPicPr>
            <a:picLocks noChangeAspect="1"/>
          </p:cNvPicPr>
          <p:nvPr/>
        </p:nvPicPr>
        <p:blipFill>
          <a:blip r:embed="rId1"/>
          <a:stretch>
            <a:fillRect/>
          </a:stretch>
        </p:blipFill>
        <p:spPr>
          <a:xfrm>
            <a:off x="938632" y="1944472"/>
            <a:ext cx="637337" cy="637337"/>
          </a:xfrm>
          <a:prstGeom prst="rect">
            <a:avLst/>
          </a:prstGeom>
        </p:spPr>
      </p:pic>
      <p:sp>
        <p:nvSpPr>
          <p:cNvPr id="6" name="Text 3"/>
          <p:cNvSpPr/>
          <p:nvPr/>
        </p:nvSpPr>
        <p:spPr>
          <a:xfrm>
            <a:off x="1828800" y="1847088"/>
            <a:ext cx="3749040" cy="457200"/>
          </a:xfrm>
          <a:prstGeom prst="rect">
            <a:avLst/>
          </a:prstGeom>
          <a:noFill/>
          <a:ln/>
        </p:spPr>
        <p:txBody>
          <a:bodyPr wrap="square" rtlCol="0" anchor="ctr"/>
          <a:lstStyle/>
          <a:p>
            <a:pPr indent="0" marL="0">
              <a:buNone/>
            </a:pPr>
            <a:r>
              <a:rPr lang="en-US" sz="1800" b="1" dirty="0">
                <a:solidFill>
                  <a:srgbClr val="1A2A3A"/>
                </a:solidFill>
                <a:latin typeface="Arial" pitchFamily="34" charset="0"/>
                <a:ea typeface="Arial" pitchFamily="34" charset="-122"/>
                <a:cs typeface="Arial" pitchFamily="34" charset="-120"/>
              </a:rPr>
              <a:t>eKhaya Connect</a:t>
            </a:r>
            <a:endParaRPr lang="en-US" sz="1800" dirty="0"/>
          </a:p>
        </p:txBody>
      </p:sp>
      <p:sp>
        <p:nvSpPr>
          <p:cNvPr id="7" name="Text 4"/>
          <p:cNvSpPr/>
          <p:nvPr/>
        </p:nvSpPr>
        <p:spPr>
          <a:xfrm>
            <a:off x="1828800" y="2331720"/>
            <a:ext cx="3749040" cy="457200"/>
          </a:xfrm>
          <a:prstGeom prst="rect">
            <a:avLst/>
          </a:prstGeom>
          <a:noFill/>
          <a:ln/>
        </p:spPr>
        <p:txBody>
          <a:bodyPr wrap="square" rtlCol="0" anchor="ctr"/>
          <a:lstStyle/>
          <a:p>
            <a:pPr indent="0" marL="0">
              <a:buNone/>
            </a:pPr>
            <a:r>
              <a:rPr lang="en-US" sz="950" i="1" dirty="0">
                <a:solidFill>
                  <a:srgbClr val="6C7A8A"/>
                </a:solidFill>
                <a:latin typeface="Arial" pitchFamily="34" charset="0"/>
                <a:ea typeface="Arial" pitchFamily="34" charset="-122"/>
                <a:cs typeface="Arial" pitchFamily="34" charset="-120"/>
              </a:rPr>
              <a:t>Connecting Homes · Empowering Communities</a:t>
            </a:r>
            <a:endParaRPr lang="en-US" sz="950" dirty="0"/>
          </a:p>
        </p:txBody>
      </p:sp>
      <p:sp>
        <p:nvSpPr>
          <p:cNvPr id="8" name="Text 5"/>
          <p:cNvSpPr/>
          <p:nvPr/>
        </p:nvSpPr>
        <p:spPr>
          <a:xfrm>
            <a:off x="548640" y="3246120"/>
            <a:ext cx="5212080" cy="457200"/>
          </a:xfrm>
          <a:prstGeom prst="rect">
            <a:avLst/>
          </a:prstGeom>
          <a:noFill/>
          <a:ln/>
        </p:spPr>
        <p:txBody>
          <a:bodyPr wrap="square" rtlCol="0" anchor="ctr"/>
          <a:lstStyle/>
          <a:p>
            <a:pPr indent="0" marL="0">
              <a:buNone/>
            </a:pPr>
            <a:r>
              <a:rPr lang="en-US" sz="1050" i="1" dirty="0">
                <a:solidFill>
                  <a:srgbClr val="6C7A8A"/>
                </a:solidFill>
                <a:latin typeface="Arial" pitchFamily="34" charset="0"/>
                <a:ea typeface="Arial" pitchFamily="34" charset="-122"/>
                <a:cs typeface="Arial" pitchFamily="34" charset="-120"/>
              </a:rPr>
              <a:t>Minimum size: 32px height (digital)  ·  Clear space: half the logo height on all sides</a:t>
            </a:r>
            <a:endParaRPr lang="en-US" sz="10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080760" y="1554480"/>
          <a:ext cx="5532120" cy="2377440"/>
        </p:xfrm>
        <a:graphic>
          <a:graphicData uri="http://schemas.openxmlformats.org/drawingml/2006/table">
            <a:tbl>
              <a:tblPr/>
              <a:tblGrid>
                <a:gridCol w="1737360"/>
                <a:gridCol w="3794760"/>
              </a:tblGrid>
              <a:tr h="457200">
                <a:tc>
                  <a:txBody>
                    <a:bodyPr/>
                    <a:lstStyle/>
                    <a:p>
                      <a:pPr indent="0" marL="0">
                        <a:buNone/>
                      </a:pPr>
                      <a:r>
                        <a:rPr lang="en-US" sz="1150" b="1" dirty="0">
                          <a:solidFill>
                            <a:srgbClr val="FFFFFF"/>
                          </a:solidFill>
                          <a:latin typeface="Arial" pitchFamily="34" charset="0"/>
                          <a:ea typeface="Arial" pitchFamily="34" charset="-122"/>
                          <a:cs typeface="Arial" pitchFamily="34" charset="-120"/>
                        </a:rPr>
                        <a:t>Variation</a:t>
                      </a:r>
                      <a:endParaRPr lang="en-US" sz="11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8C3F"/>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When to Use</a:t>
                      </a:r>
                      <a:endParaRPr lang="en-US" sz="11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8C3F"/>
                    </a:solidFill>
                  </a:tcPr>
                </a:tc>
              </a:tr>
              <a:tr h="457200">
                <a:tc>
                  <a:txBody>
                    <a:bodyPr/>
                    <a:lstStyle/>
                    <a:p>
                      <a:pPr indent="0" marL="0">
                        <a:buNone/>
                      </a:pPr>
                      <a:r>
                        <a:rPr lang="en-US" sz="1150" dirty="0">
                          <a:solidFill>
                            <a:srgbClr val="1A2A3A"/>
                          </a:solidFill>
                          <a:latin typeface="Arial" pitchFamily="34" charset="0"/>
                          <a:ea typeface="Arial" pitchFamily="34" charset="-122"/>
                          <a:cs typeface="Arial" pitchFamily="34" charset="-120"/>
                        </a:rPr>
                        <a:t>Full Colour</a:t>
                      </a:r>
                      <a:endParaRPr lang="en-US" sz="11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1A2A3A"/>
                          </a:solidFill>
                          <a:latin typeface="Arial" pitchFamily="34" charset="0"/>
                          <a:ea typeface="Arial" pitchFamily="34" charset="-122"/>
                          <a:cs typeface="Arial" pitchFamily="34" charset="-120"/>
                        </a:rPr>
                        <a:t>Primary logo for most applications</a:t>
                      </a:r>
                      <a:endParaRPr lang="en-US" sz="11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57200">
                <a:tc>
                  <a:txBody>
                    <a:bodyPr/>
                    <a:lstStyle/>
                    <a:p>
                      <a:pPr indent="0" marL="0">
                        <a:buNone/>
                      </a:pPr>
                      <a:r>
                        <a:rPr lang="en-US" sz="1150" dirty="0">
                          <a:solidFill>
                            <a:srgbClr val="1A2A3A"/>
                          </a:solidFill>
                          <a:latin typeface="Arial" pitchFamily="34" charset="0"/>
                          <a:ea typeface="Arial" pitchFamily="34" charset="-122"/>
                          <a:cs typeface="Arial" pitchFamily="34" charset="-120"/>
                        </a:rPr>
                        <a:t>All White</a:t>
                      </a:r>
                      <a:endParaRPr lang="en-US" sz="11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1A2A3A"/>
                          </a:solidFill>
                          <a:latin typeface="Arial" pitchFamily="34" charset="0"/>
                          <a:ea typeface="Arial" pitchFamily="34" charset="-122"/>
                          <a:cs typeface="Arial" pitchFamily="34" charset="-120"/>
                        </a:rPr>
                        <a:t>On dark backgrounds (footer, dark hero sections)</a:t>
                      </a:r>
                      <a:endParaRPr lang="en-US" sz="11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57200">
                <a:tc>
                  <a:txBody>
                    <a:bodyPr/>
                    <a:lstStyle/>
                    <a:p>
                      <a:pPr indent="0" marL="0">
                        <a:buNone/>
                      </a:pPr>
                      <a:r>
                        <a:rPr lang="en-US" sz="1150" dirty="0">
                          <a:solidFill>
                            <a:srgbClr val="1A2A3A"/>
                          </a:solidFill>
                          <a:latin typeface="Arial" pitchFamily="34" charset="0"/>
                          <a:ea typeface="Arial" pitchFamily="34" charset="-122"/>
                          <a:cs typeface="Arial" pitchFamily="34" charset="-120"/>
                        </a:rPr>
                        <a:t>Icon Only</a:t>
                      </a:r>
                      <a:endParaRPr lang="en-US" sz="11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1A2A3A"/>
                          </a:solidFill>
                          <a:latin typeface="Arial" pitchFamily="34" charset="0"/>
                          <a:ea typeface="Arial" pitchFamily="34" charset="-122"/>
                          <a:cs typeface="Arial" pitchFamily="34" charset="-120"/>
                        </a:rPr>
                        <a:t>Favicon, app icon, profile pictures, small spaces</a:t>
                      </a:r>
                      <a:endParaRPr lang="en-US" sz="11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57200">
                <a:tc>
                  <a:txBody>
                    <a:bodyPr/>
                    <a:lstStyle/>
                    <a:p>
                      <a:pPr indent="0" marL="0">
                        <a:buNone/>
                      </a:pPr>
                      <a:r>
                        <a:rPr lang="en-US" sz="1150" dirty="0">
                          <a:solidFill>
                            <a:srgbClr val="1A2A3A"/>
                          </a:solidFill>
                          <a:latin typeface="Arial" pitchFamily="34" charset="0"/>
                          <a:ea typeface="Arial" pitchFamily="34" charset="-122"/>
                          <a:cs typeface="Arial" pitchFamily="34" charset="-120"/>
                        </a:rPr>
                        <a:t>Horizontal</a:t>
                      </a:r>
                      <a:endParaRPr lang="en-US" sz="11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1A2A3A"/>
                          </a:solidFill>
                          <a:latin typeface="Arial" pitchFamily="34" charset="0"/>
                          <a:ea typeface="Arial" pitchFamily="34" charset="-122"/>
                          <a:cs typeface="Arial" pitchFamily="34" charset="-120"/>
                        </a:rPr>
                        <a:t>Standard layout for headers and print</a:t>
                      </a:r>
                      <a:endParaRPr lang="en-US" sz="11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10" name="Text 6"/>
          <p:cNvSpPr/>
          <p:nvPr/>
        </p:nvSpPr>
        <p:spPr>
          <a:xfrm>
            <a:off x="548640" y="4160520"/>
            <a:ext cx="4572000" cy="320040"/>
          </a:xfrm>
          <a:prstGeom prst="rect">
            <a:avLst/>
          </a:prstGeom>
          <a:noFill/>
          <a:ln/>
        </p:spPr>
        <p:txBody>
          <a:bodyPr wrap="square" rtlCol="0" anchor="ctr"/>
          <a:lstStyle/>
          <a:p>
            <a:pPr indent="0" marL="0">
              <a:buNone/>
            </a:pPr>
            <a:r>
              <a:rPr lang="en-US" sz="1400" b="1" dirty="0">
                <a:solidFill>
                  <a:srgbClr val="1A2A3A"/>
                </a:solidFill>
                <a:latin typeface="Arial" pitchFamily="34" charset="0"/>
                <a:ea typeface="Arial" pitchFamily="34" charset="-122"/>
                <a:cs typeface="Arial" pitchFamily="34" charset="-120"/>
              </a:rPr>
              <a:t>What NOT to Do</a:t>
            </a:r>
            <a:endParaRPr lang="en-US" sz="1400" dirty="0"/>
          </a:p>
        </p:txBody>
      </p:sp>
      <p:sp>
        <p:nvSpPr>
          <p:cNvPr id="11" name="Shape 7"/>
          <p:cNvSpPr/>
          <p:nvPr/>
        </p:nvSpPr>
        <p:spPr>
          <a:xfrm>
            <a:off x="548640" y="4599432"/>
            <a:ext cx="219456" cy="219456"/>
          </a:xfrm>
          <a:prstGeom prst="ellipse">
            <a:avLst/>
          </a:prstGeom>
          <a:solidFill>
            <a:srgbClr val="FDECEC"/>
          </a:solidFill>
          <a:ln/>
        </p:spPr>
      </p:sp>
      <p:sp>
        <p:nvSpPr>
          <p:cNvPr id="12" name="Text 8"/>
          <p:cNvSpPr/>
          <p:nvPr/>
        </p:nvSpPr>
        <p:spPr>
          <a:xfrm>
            <a:off x="548640" y="4581144"/>
            <a:ext cx="219456" cy="219456"/>
          </a:xfrm>
          <a:prstGeom prst="rect">
            <a:avLst/>
          </a:prstGeom>
          <a:noFill/>
          <a:ln/>
        </p:spPr>
        <p:txBody>
          <a:bodyPr wrap="square" rtlCol="0" anchor="ctr"/>
          <a:lstStyle/>
          <a:p>
            <a:pPr algn="ctr" indent="0" marL="0">
              <a:buNone/>
            </a:pPr>
            <a:r>
              <a:rPr lang="en-US" sz="1100" b="1" dirty="0">
                <a:solidFill>
                  <a:srgbClr val="C0392B"/>
                </a:solidFill>
                <a:latin typeface="Arial" pitchFamily="34" charset="0"/>
                <a:ea typeface="Arial" pitchFamily="34" charset="-122"/>
                <a:cs typeface="Arial" pitchFamily="34" charset="-120"/>
              </a:rPr>
              <a:t>✕</a:t>
            </a:r>
            <a:endParaRPr lang="en-US" sz="1100" dirty="0"/>
          </a:p>
        </p:txBody>
      </p:sp>
      <p:sp>
        <p:nvSpPr>
          <p:cNvPr id="13" name="Text 9"/>
          <p:cNvSpPr/>
          <p:nvPr/>
        </p:nvSpPr>
        <p:spPr>
          <a:xfrm>
            <a:off x="859536" y="4572000"/>
            <a:ext cx="5038344" cy="438912"/>
          </a:xfrm>
          <a:prstGeom prst="rect">
            <a:avLst/>
          </a:prstGeom>
          <a:noFill/>
          <a:ln/>
        </p:spPr>
        <p:txBody>
          <a:bodyPr wrap="square" rtlCol="0" anchor="ctr"/>
          <a:lstStyle/>
          <a:p>
            <a:pPr indent="0" marL="0">
              <a:buNone/>
            </a:pPr>
            <a:r>
              <a:rPr lang="en-US" sz="1150" dirty="0">
                <a:solidFill>
                  <a:srgbClr val="1A2A3A"/>
                </a:solidFill>
                <a:latin typeface="Arial" pitchFamily="34" charset="0"/>
                <a:ea typeface="Arial" pitchFamily="34" charset="-122"/>
                <a:cs typeface="Arial" pitchFamily="34" charset="-120"/>
              </a:rPr>
              <a:t>Stretch or distort the logo</a:t>
            </a:r>
            <a:endParaRPr lang="en-US" sz="1150" dirty="0"/>
          </a:p>
        </p:txBody>
      </p:sp>
      <p:sp>
        <p:nvSpPr>
          <p:cNvPr id="14" name="Shape 10"/>
          <p:cNvSpPr/>
          <p:nvPr/>
        </p:nvSpPr>
        <p:spPr>
          <a:xfrm>
            <a:off x="6263640" y="4599432"/>
            <a:ext cx="219456" cy="219456"/>
          </a:xfrm>
          <a:prstGeom prst="ellipse">
            <a:avLst/>
          </a:prstGeom>
          <a:solidFill>
            <a:srgbClr val="FDECEC"/>
          </a:solidFill>
          <a:ln/>
        </p:spPr>
      </p:sp>
      <p:sp>
        <p:nvSpPr>
          <p:cNvPr id="15" name="Text 11"/>
          <p:cNvSpPr/>
          <p:nvPr/>
        </p:nvSpPr>
        <p:spPr>
          <a:xfrm>
            <a:off x="6263640" y="4581144"/>
            <a:ext cx="219456" cy="219456"/>
          </a:xfrm>
          <a:prstGeom prst="rect">
            <a:avLst/>
          </a:prstGeom>
          <a:noFill/>
          <a:ln/>
        </p:spPr>
        <p:txBody>
          <a:bodyPr wrap="square" rtlCol="0" anchor="ctr"/>
          <a:lstStyle/>
          <a:p>
            <a:pPr algn="ctr" indent="0" marL="0">
              <a:buNone/>
            </a:pPr>
            <a:r>
              <a:rPr lang="en-US" sz="1100" b="1" dirty="0">
                <a:solidFill>
                  <a:srgbClr val="C0392B"/>
                </a:solidFill>
                <a:latin typeface="Arial" pitchFamily="34" charset="0"/>
                <a:ea typeface="Arial" pitchFamily="34" charset="-122"/>
                <a:cs typeface="Arial" pitchFamily="34" charset="-120"/>
              </a:rPr>
              <a:t>✕</a:t>
            </a:r>
            <a:endParaRPr lang="en-US" sz="1100" dirty="0"/>
          </a:p>
        </p:txBody>
      </p:sp>
      <p:sp>
        <p:nvSpPr>
          <p:cNvPr id="16" name="Text 12"/>
          <p:cNvSpPr/>
          <p:nvPr/>
        </p:nvSpPr>
        <p:spPr>
          <a:xfrm>
            <a:off x="6574536" y="4572000"/>
            <a:ext cx="5038344" cy="438912"/>
          </a:xfrm>
          <a:prstGeom prst="rect">
            <a:avLst/>
          </a:prstGeom>
          <a:noFill/>
          <a:ln/>
        </p:spPr>
        <p:txBody>
          <a:bodyPr wrap="square" rtlCol="0" anchor="ctr"/>
          <a:lstStyle/>
          <a:p>
            <a:pPr indent="0" marL="0">
              <a:buNone/>
            </a:pPr>
            <a:r>
              <a:rPr lang="en-US" sz="1150" dirty="0">
                <a:solidFill>
                  <a:srgbClr val="1A2A3A"/>
                </a:solidFill>
                <a:latin typeface="Arial" pitchFamily="34" charset="0"/>
                <a:ea typeface="Arial" pitchFamily="34" charset="-122"/>
                <a:cs typeface="Arial" pitchFamily="34" charset="-120"/>
              </a:rPr>
              <a:t>Change the colours</a:t>
            </a:r>
            <a:endParaRPr lang="en-US" sz="1150" dirty="0"/>
          </a:p>
        </p:txBody>
      </p:sp>
      <p:sp>
        <p:nvSpPr>
          <p:cNvPr id="17" name="Shape 13"/>
          <p:cNvSpPr/>
          <p:nvPr/>
        </p:nvSpPr>
        <p:spPr>
          <a:xfrm>
            <a:off x="548640" y="5074920"/>
            <a:ext cx="219456" cy="219456"/>
          </a:xfrm>
          <a:prstGeom prst="ellipse">
            <a:avLst/>
          </a:prstGeom>
          <a:solidFill>
            <a:srgbClr val="FDECEC"/>
          </a:solidFill>
          <a:ln/>
        </p:spPr>
      </p:sp>
      <p:sp>
        <p:nvSpPr>
          <p:cNvPr id="18" name="Text 14"/>
          <p:cNvSpPr/>
          <p:nvPr/>
        </p:nvSpPr>
        <p:spPr>
          <a:xfrm>
            <a:off x="548640" y="5056632"/>
            <a:ext cx="219456" cy="219456"/>
          </a:xfrm>
          <a:prstGeom prst="rect">
            <a:avLst/>
          </a:prstGeom>
          <a:noFill/>
          <a:ln/>
        </p:spPr>
        <p:txBody>
          <a:bodyPr wrap="square" rtlCol="0" anchor="ctr"/>
          <a:lstStyle/>
          <a:p>
            <a:pPr algn="ctr" indent="0" marL="0">
              <a:buNone/>
            </a:pPr>
            <a:r>
              <a:rPr lang="en-US" sz="1100" b="1" dirty="0">
                <a:solidFill>
                  <a:srgbClr val="C0392B"/>
                </a:solidFill>
                <a:latin typeface="Arial" pitchFamily="34" charset="0"/>
                <a:ea typeface="Arial" pitchFamily="34" charset="-122"/>
                <a:cs typeface="Arial" pitchFamily="34" charset="-120"/>
              </a:rPr>
              <a:t>✕</a:t>
            </a:r>
            <a:endParaRPr lang="en-US" sz="1100" dirty="0"/>
          </a:p>
        </p:txBody>
      </p:sp>
      <p:sp>
        <p:nvSpPr>
          <p:cNvPr id="19" name="Text 15"/>
          <p:cNvSpPr/>
          <p:nvPr/>
        </p:nvSpPr>
        <p:spPr>
          <a:xfrm>
            <a:off x="859536" y="5047488"/>
            <a:ext cx="5038344" cy="438912"/>
          </a:xfrm>
          <a:prstGeom prst="rect">
            <a:avLst/>
          </a:prstGeom>
          <a:noFill/>
          <a:ln/>
        </p:spPr>
        <p:txBody>
          <a:bodyPr wrap="square" rtlCol="0" anchor="ctr"/>
          <a:lstStyle/>
          <a:p>
            <a:pPr indent="0" marL="0">
              <a:buNone/>
            </a:pPr>
            <a:r>
              <a:rPr lang="en-US" sz="1150" dirty="0">
                <a:solidFill>
                  <a:srgbClr val="1A2A3A"/>
                </a:solidFill>
                <a:latin typeface="Arial" pitchFamily="34" charset="0"/>
                <a:ea typeface="Arial" pitchFamily="34" charset="-122"/>
                <a:cs typeface="Arial" pitchFamily="34" charset="-120"/>
              </a:rPr>
              <a:t>Rotate the logo</a:t>
            </a:r>
            <a:endParaRPr lang="en-US" sz="1150" dirty="0"/>
          </a:p>
        </p:txBody>
      </p:sp>
      <p:sp>
        <p:nvSpPr>
          <p:cNvPr id="20" name="Shape 16"/>
          <p:cNvSpPr/>
          <p:nvPr/>
        </p:nvSpPr>
        <p:spPr>
          <a:xfrm>
            <a:off x="6263640" y="5074920"/>
            <a:ext cx="219456" cy="219456"/>
          </a:xfrm>
          <a:prstGeom prst="ellipse">
            <a:avLst/>
          </a:prstGeom>
          <a:solidFill>
            <a:srgbClr val="FDECEC"/>
          </a:solidFill>
          <a:ln/>
        </p:spPr>
      </p:sp>
      <p:sp>
        <p:nvSpPr>
          <p:cNvPr id="21" name="Text 17"/>
          <p:cNvSpPr/>
          <p:nvPr/>
        </p:nvSpPr>
        <p:spPr>
          <a:xfrm>
            <a:off x="6263640" y="5056632"/>
            <a:ext cx="219456" cy="219456"/>
          </a:xfrm>
          <a:prstGeom prst="rect">
            <a:avLst/>
          </a:prstGeom>
          <a:noFill/>
          <a:ln/>
        </p:spPr>
        <p:txBody>
          <a:bodyPr wrap="square" rtlCol="0" anchor="ctr"/>
          <a:lstStyle/>
          <a:p>
            <a:pPr algn="ctr" indent="0" marL="0">
              <a:buNone/>
            </a:pPr>
            <a:r>
              <a:rPr lang="en-US" sz="1100" b="1" dirty="0">
                <a:solidFill>
                  <a:srgbClr val="C0392B"/>
                </a:solidFill>
                <a:latin typeface="Arial" pitchFamily="34" charset="0"/>
                <a:ea typeface="Arial" pitchFamily="34" charset="-122"/>
                <a:cs typeface="Arial" pitchFamily="34" charset="-120"/>
              </a:rPr>
              <a:t>✕</a:t>
            </a:r>
            <a:endParaRPr lang="en-US" sz="1100" dirty="0"/>
          </a:p>
        </p:txBody>
      </p:sp>
      <p:sp>
        <p:nvSpPr>
          <p:cNvPr id="22" name="Text 18"/>
          <p:cNvSpPr/>
          <p:nvPr/>
        </p:nvSpPr>
        <p:spPr>
          <a:xfrm>
            <a:off x="6574536" y="5047488"/>
            <a:ext cx="5038344" cy="438912"/>
          </a:xfrm>
          <a:prstGeom prst="rect">
            <a:avLst/>
          </a:prstGeom>
          <a:noFill/>
          <a:ln/>
        </p:spPr>
        <p:txBody>
          <a:bodyPr wrap="square" rtlCol="0" anchor="ctr"/>
          <a:lstStyle/>
          <a:p>
            <a:pPr indent="0" marL="0">
              <a:buNone/>
            </a:pPr>
            <a:r>
              <a:rPr lang="en-US" sz="1150" dirty="0">
                <a:solidFill>
                  <a:srgbClr val="1A2A3A"/>
                </a:solidFill>
                <a:latin typeface="Arial" pitchFamily="34" charset="0"/>
                <a:ea typeface="Arial" pitchFamily="34" charset="-122"/>
                <a:cs typeface="Arial" pitchFamily="34" charset="-120"/>
              </a:rPr>
              <a:t>Place on busy backgrounds without contrast</a:t>
            </a:r>
            <a:endParaRPr lang="en-US" sz="1150" dirty="0"/>
          </a:p>
        </p:txBody>
      </p:sp>
      <p:sp>
        <p:nvSpPr>
          <p:cNvPr id="23" name="Shape 19"/>
          <p:cNvSpPr/>
          <p:nvPr/>
        </p:nvSpPr>
        <p:spPr>
          <a:xfrm>
            <a:off x="548640" y="5550408"/>
            <a:ext cx="219456" cy="219456"/>
          </a:xfrm>
          <a:prstGeom prst="ellipse">
            <a:avLst/>
          </a:prstGeom>
          <a:solidFill>
            <a:srgbClr val="FDECEC"/>
          </a:solidFill>
          <a:ln/>
        </p:spPr>
      </p:sp>
      <p:sp>
        <p:nvSpPr>
          <p:cNvPr id="24" name="Text 20"/>
          <p:cNvSpPr/>
          <p:nvPr/>
        </p:nvSpPr>
        <p:spPr>
          <a:xfrm>
            <a:off x="548640" y="5532120"/>
            <a:ext cx="219456" cy="219456"/>
          </a:xfrm>
          <a:prstGeom prst="rect">
            <a:avLst/>
          </a:prstGeom>
          <a:noFill/>
          <a:ln/>
        </p:spPr>
        <p:txBody>
          <a:bodyPr wrap="square" rtlCol="0" anchor="ctr"/>
          <a:lstStyle/>
          <a:p>
            <a:pPr algn="ctr" indent="0" marL="0">
              <a:buNone/>
            </a:pPr>
            <a:r>
              <a:rPr lang="en-US" sz="1100" b="1" dirty="0">
                <a:solidFill>
                  <a:srgbClr val="C0392B"/>
                </a:solidFill>
                <a:latin typeface="Arial" pitchFamily="34" charset="0"/>
                <a:ea typeface="Arial" pitchFamily="34" charset="-122"/>
                <a:cs typeface="Arial" pitchFamily="34" charset="-120"/>
              </a:rPr>
              <a:t>✕</a:t>
            </a:r>
            <a:endParaRPr lang="en-US" sz="1100" dirty="0"/>
          </a:p>
        </p:txBody>
      </p:sp>
      <p:sp>
        <p:nvSpPr>
          <p:cNvPr id="25" name="Text 21"/>
          <p:cNvSpPr/>
          <p:nvPr/>
        </p:nvSpPr>
        <p:spPr>
          <a:xfrm>
            <a:off x="859536" y="5522976"/>
            <a:ext cx="5038344" cy="438912"/>
          </a:xfrm>
          <a:prstGeom prst="rect">
            <a:avLst/>
          </a:prstGeom>
          <a:noFill/>
          <a:ln/>
        </p:spPr>
        <p:txBody>
          <a:bodyPr wrap="square" rtlCol="0" anchor="ctr"/>
          <a:lstStyle/>
          <a:p>
            <a:pPr indent="0" marL="0">
              <a:buNone/>
            </a:pPr>
            <a:r>
              <a:rPr lang="en-US" sz="1150" dirty="0">
                <a:solidFill>
                  <a:srgbClr val="1A2A3A"/>
                </a:solidFill>
                <a:latin typeface="Arial" pitchFamily="34" charset="0"/>
                <a:ea typeface="Arial" pitchFamily="34" charset="-122"/>
                <a:cs typeface="Arial" pitchFamily="34" charset="-120"/>
              </a:rPr>
              <a:t>Add drop shadows or effects</a:t>
            </a:r>
            <a:endParaRPr lang="en-US" sz="1150" dirty="0"/>
          </a:p>
        </p:txBody>
      </p:sp>
      <p:sp>
        <p:nvSpPr>
          <p:cNvPr id="26" name="Shape 22"/>
          <p:cNvSpPr/>
          <p:nvPr/>
        </p:nvSpPr>
        <p:spPr>
          <a:xfrm>
            <a:off x="6263640" y="5550408"/>
            <a:ext cx="219456" cy="219456"/>
          </a:xfrm>
          <a:prstGeom prst="ellipse">
            <a:avLst/>
          </a:prstGeom>
          <a:solidFill>
            <a:srgbClr val="FDECEC"/>
          </a:solidFill>
          <a:ln/>
        </p:spPr>
      </p:sp>
      <p:sp>
        <p:nvSpPr>
          <p:cNvPr id="27" name="Text 23"/>
          <p:cNvSpPr/>
          <p:nvPr/>
        </p:nvSpPr>
        <p:spPr>
          <a:xfrm>
            <a:off x="6263640" y="5532120"/>
            <a:ext cx="219456" cy="219456"/>
          </a:xfrm>
          <a:prstGeom prst="rect">
            <a:avLst/>
          </a:prstGeom>
          <a:noFill/>
          <a:ln/>
        </p:spPr>
        <p:txBody>
          <a:bodyPr wrap="square" rtlCol="0" anchor="ctr"/>
          <a:lstStyle/>
          <a:p>
            <a:pPr algn="ctr" indent="0" marL="0">
              <a:buNone/>
            </a:pPr>
            <a:r>
              <a:rPr lang="en-US" sz="1100" b="1" dirty="0">
                <a:solidFill>
                  <a:srgbClr val="C0392B"/>
                </a:solidFill>
                <a:latin typeface="Arial" pitchFamily="34" charset="0"/>
                <a:ea typeface="Arial" pitchFamily="34" charset="-122"/>
                <a:cs typeface="Arial" pitchFamily="34" charset="-120"/>
              </a:rPr>
              <a:t>✕</a:t>
            </a:r>
            <a:endParaRPr lang="en-US" sz="1100" dirty="0"/>
          </a:p>
        </p:txBody>
      </p:sp>
      <p:sp>
        <p:nvSpPr>
          <p:cNvPr id="28" name="Text 24"/>
          <p:cNvSpPr/>
          <p:nvPr/>
        </p:nvSpPr>
        <p:spPr>
          <a:xfrm>
            <a:off x="6574536" y="5522976"/>
            <a:ext cx="5038344" cy="438912"/>
          </a:xfrm>
          <a:prstGeom prst="rect">
            <a:avLst/>
          </a:prstGeom>
          <a:noFill/>
          <a:ln/>
        </p:spPr>
        <p:txBody>
          <a:bodyPr wrap="square" rtlCol="0" anchor="ctr"/>
          <a:lstStyle/>
          <a:p>
            <a:pPr indent="0" marL="0">
              <a:buNone/>
            </a:pPr>
            <a:r>
              <a:rPr lang="en-US" sz="1150" dirty="0">
                <a:solidFill>
                  <a:srgbClr val="1A2A3A"/>
                </a:solidFill>
                <a:latin typeface="Arial" pitchFamily="34" charset="0"/>
                <a:ea typeface="Arial" pitchFamily="34" charset="-122"/>
                <a:cs typeface="Arial" pitchFamily="34" charset="-120"/>
              </a:rPr>
              <a:t>Use the icon without the brand name in official materials</a:t>
            </a:r>
            <a:endParaRPr lang="en-US" sz="1150" dirty="0"/>
          </a:p>
        </p:txBody>
      </p:sp>
      <p:sp>
        <p:nvSpPr>
          <p:cNvPr id="29" name="Shape 25"/>
          <p:cNvSpPr/>
          <p:nvPr/>
        </p:nvSpPr>
        <p:spPr>
          <a:xfrm>
            <a:off x="457200" y="6400800"/>
            <a:ext cx="292608" cy="292608"/>
          </a:xfrm>
          <a:prstGeom prst="roundRect">
            <a:avLst>
              <a:gd name="adj" fmla="val 16000"/>
            </a:avLst>
          </a:prstGeom>
          <a:solidFill>
            <a:srgbClr val="FFFFFF"/>
          </a:solidFill>
          <a:ln w="12700">
            <a:solidFill>
              <a:srgbClr val="E2E8F0"/>
            </a:solidFill>
            <a:prstDash val="solid"/>
          </a:ln>
        </p:spPr>
      </p:sp>
      <p:pic>
        <p:nvPicPr>
          <p:cNvPr id="30" name="Image 1" descr="/home/claude/ekhaya/logo_icon_square.png">    </p:cNvPr>
          <p:cNvPicPr>
            <a:picLocks noChangeAspect="1"/>
          </p:cNvPicPr>
          <p:nvPr/>
        </p:nvPicPr>
        <p:blipFill>
          <a:blip r:embed="rId2"/>
          <a:stretch>
            <a:fillRect/>
          </a:stretch>
        </p:blipFill>
        <p:spPr>
          <a:xfrm>
            <a:off x="483535" y="6427135"/>
            <a:ext cx="239939" cy="239939"/>
          </a:xfrm>
          <a:prstGeom prst="rect">
            <a:avLst/>
          </a:prstGeom>
        </p:spPr>
      </p:pic>
      <p:sp>
        <p:nvSpPr>
          <p:cNvPr id="31" name="Text 26"/>
          <p:cNvSpPr/>
          <p:nvPr/>
        </p:nvSpPr>
        <p:spPr>
          <a:xfrm>
            <a:off x="841248" y="6419088"/>
            <a:ext cx="4572000" cy="292608"/>
          </a:xfrm>
          <a:prstGeom prst="rect">
            <a:avLst/>
          </a:prstGeom>
          <a:noFill/>
          <a:ln/>
        </p:spPr>
        <p:txBody>
          <a:bodyPr wrap="square" rtlCol="0" anchor="ctr"/>
          <a:lstStyle/>
          <a:p>
            <a:pPr indent="0" marL="0">
              <a:buNone/>
            </a:pPr>
            <a:r>
              <a:rPr lang="en-US" sz="900" dirty="0">
                <a:solidFill>
                  <a:srgbClr val="6C7A8A"/>
                </a:solidFill>
                <a:latin typeface="Arial" pitchFamily="34" charset="0"/>
                <a:ea typeface="Arial" pitchFamily="34" charset="-122"/>
                <a:cs typeface="Arial" pitchFamily="34" charset="-120"/>
              </a:rPr>
              <a:t>eKhaya Connect · Brand Guide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0B8C3F"/>
                </a:solidFill>
                <a:latin typeface="Arial" pitchFamily="34" charset="0"/>
                <a:ea typeface="Arial" pitchFamily="34" charset="-122"/>
                <a:cs typeface="Arial" pitchFamily="34" charset="-120"/>
              </a:rPr>
              <a:t>VISUAL IDENTITY</a:t>
            </a:r>
            <a:endParaRPr lang="en-US" sz="1300" dirty="0"/>
          </a:p>
        </p:txBody>
      </p:sp>
      <p:sp>
        <p:nvSpPr>
          <p:cNvPr id="3" name="Text 1"/>
          <p:cNvSpPr/>
          <p:nvPr/>
        </p:nvSpPr>
        <p:spPr>
          <a:xfrm>
            <a:off x="548640" y="658368"/>
            <a:ext cx="10789920" cy="658368"/>
          </a:xfrm>
          <a:prstGeom prst="rect">
            <a:avLst/>
          </a:prstGeom>
          <a:noFill/>
          <a:ln/>
        </p:spPr>
        <p:txBody>
          <a:bodyPr wrap="square" rtlCol="0" anchor="ctr"/>
          <a:lstStyle/>
          <a:p>
            <a:pPr indent="0" marL="0">
              <a:buNone/>
            </a:pPr>
            <a:r>
              <a:rPr lang="en-US" sz="3000" b="1" dirty="0">
                <a:solidFill>
                  <a:srgbClr val="1A2A3A"/>
                </a:solidFill>
                <a:latin typeface="Arial" pitchFamily="34" charset="0"/>
                <a:ea typeface="Arial" pitchFamily="34" charset="-122"/>
                <a:cs typeface="Arial" pitchFamily="34" charset="-120"/>
              </a:rPr>
              <a:t>Colour Palette</a:t>
            </a:r>
            <a:endParaRPr lang="en-US" sz="3000" dirty="0"/>
          </a:p>
        </p:txBody>
      </p:sp>
      <p:sp>
        <p:nvSpPr>
          <p:cNvPr id="4" name="Text 2"/>
          <p:cNvSpPr/>
          <p:nvPr/>
        </p:nvSpPr>
        <p:spPr>
          <a:xfrm>
            <a:off x="548640" y="1417320"/>
            <a:ext cx="4572000" cy="274320"/>
          </a:xfrm>
          <a:prstGeom prst="rect">
            <a:avLst/>
          </a:prstGeom>
          <a:noFill/>
          <a:ln/>
        </p:spPr>
        <p:txBody>
          <a:bodyPr wrap="square" rtlCol="0" anchor="ctr"/>
          <a:lstStyle/>
          <a:p>
            <a:pPr indent="0" marL="0">
              <a:buNone/>
            </a:pPr>
            <a:r>
              <a:rPr lang="en-US" sz="1100" b="1" spc="100" kern="0" dirty="0">
                <a:solidFill>
                  <a:srgbClr val="0B8C3F"/>
                </a:solidFill>
                <a:latin typeface="Arial" pitchFamily="34" charset="0"/>
                <a:ea typeface="Arial" pitchFamily="34" charset="-122"/>
                <a:cs typeface="Arial" pitchFamily="34" charset="-120"/>
              </a:rPr>
              <a:t>PRIMARY</a:t>
            </a:r>
            <a:endParaRPr lang="en-US" sz="1100" dirty="0"/>
          </a:p>
        </p:txBody>
      </p:sp>
      <p:sp>
        <p:nvSpPr>
          <p:cNvPr id="5" name="Shape 3"/>
          <p:cNvSpPr/>
          <p:nvPr/>
        </p:nvSpPr>
        <p:spPr>
          <a:xfrm>
            <a:off x="548640" y="1737360"/>
            <a:ext cx="3520440" cy="1371600"/>
          </a:xfrm>
          <a:prstGeom prst="roundRect">
            <a:avLst>
              <a:gd name="adj" fmla="val 5333"/>
            </a:avLst>
          </a:prstGeom>
          <a:solidFill>
            <a:srgbClr val="0B8C3F"/>
          </a:solidFill>
          <a:ln/>
        </p:spPr>
      </p:sp>
      <p:sp>
        <p:nvSpPr>
          <p:cNvPr id="6" name="Text 4"/>
          <p:cNvSpPr/>
          <p:nvPr/>
        </p:nvSpPr>
        <p:spPr>
          <a:xfrm>
            <a:off x="731520" y="1901952"/>
            <a:ext cx="3154680" cy="32004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eKhaya Green</a:t>
            </a:r>
            <a:endParaRPr lang="en-US" sz="1400" dirty="0"/>
          </a:p>
        </p:txBody>
      </p:sp>
      <p:sp>
        <p:nvSpPr>
          <p:cNvPr id="7" name="Text 5"/>
          <p:cNvSpPr/>
          <p:nvPr/>
        </p:nvSpPr>
        <p:spPr>
          <a:xfrm>
            <a:off x="731520" y="2240280"/>
            <a:ext cx="3154680" cy="27432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#0B8C3F</a:t>
            </a:r>
            <a:endParaRPr lang="en-US" sz="1200" dirty="0"/>
          </a:p>
        </p:txBody>
      </p:sp>
      <p:sp>
        <p:nvSpPr>
          <p:cNvPr id="8" name="Text 6"/>
          <p:cNvSpPr/>
          <p:nvPr/>
        </p:nvSpPr>
        <p:spPr>
          <a:xfrm>
            <a:off x="731520" y="2606040"/>
            <a:ext cx="3154680" cy="457200"/>
          </a:xfrm>
          <a:prstGeom prst="rect">
            <a:avLst/>
          </a:prstGeom>
          <a:noFill/>
          <a:ln/>
        </p:spPr>
        <p:txBody>
          <a:bodyPr wrap="square" rtlCol="0" anchor="t"/>
          <a:lstStyle/>
          <a:p>
            <a:pPr indent="0" marL="0">
              <a:buNone/>
            </a:pPr>
            <a:r>
              <a:rPr lang="en-US" sz="950" dirty="0">
                <a:solidFill>
                  <a:srgbClr val="FFFFFF"/>
                </a:solidFill>
                <a:latin typeface="Arial" pitchFamily="34" charset="0"/>
                <a:ea typeface="Arial" pitchFamily="34" charset="-122"/>
                <a:cs typeface="Arial" pitchFamily="34" charset="-120"/>
              </a:rPr>
              <a:t>Primary — buttons, headers, accents</a:t>
            </a:r>
            <a:endParaRPr lang="en-US" sz="950" dirty="0"/>
          </a:p>
        </p:txBody>
      </p:sp>
      <p:sp>
        <p:nvSpPr>
          <p:cNvPr id="9" name="Shape 7"/>
          <p:cNvSpPr/>
          <p:nvPr/>
        </p:nvSpPr>
        <p:spPr>
          <a:xfrm>
            <a:off x="4343400" y="1737360"/>
            <a:ext cx="3520440" cy="1371600"/>
          </a:xfrm>
          <a:prstGeom prst="roundRect">
            <a:avLst>
              <a:gd name="adj" fmla="val 5333"/>
            </a:avLst>
          </a:prstGeom>
          <a:solidFill>
            <a:srgbClr val="066B2E"/>
          </a:solidFill>
          <a:ln/>
        </p:spPr>
      </p:sp>
      <p:sp>
        <p:nvSpPr>
          <p:cNvPr id="10" name="Text 8"/>
          <p:cNvSpPr/>
          <p:nvPr/>
        </p:nvSpPr>
        <p:spPr>
          <a:xfrm>
            <a:off x="4526280" y="1901952"/>
            <a:ext cx="3154680" cy="32004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eKhaya Green Dark</a:t>
            </a:r>
            <a:endParaRPr lang="en-US" sz="1400" dirty="0"/>
          </a:p>
        </p:txBody>
      </p:sp>
      <p:sp>
        <p:nvSpPr>
          <p:cNvPr id="11" name="Text 9"/>
          <p:cNvSpPr/>
          <p:nvPr/>
        </p:nvSpPr>
        <p:spPr>
          <a:xfrm>
            <a:off x="4526280" y="2240280"/>
            <a:ext cx="3154680" cy="27432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#066B2E</a:t>
            </a:r>
            <a:endParaRPr lang="en-US" sz="1200" dirty="0"/>
          </a:p>
        </p:txBody>
      </p:sp>
      <p:sp>
        <p:nvSpPr>
          <p:cNvPr id="12" name="Text 10"/>
          <p:cNvSpPr/>
          <p:nvPr/>
        </p:nvSpPr>
        <p:spPr>
          <a:xfrm>
            <a:off x="4526280" y="2606040"/>
            <a:ext cx="3154680" cy="457200"/>
          </a:xfrm>
          <a:prstGeom prst="rect">
            <a:avLst/>
          </a:prstGeom>
          <a:noFill/>
          <a:ln/>
        </p:spPr>
        <p:txBody>
          <a:bodyPr wrap="square" rtlCol="0" anchor="t"/>
          <a:lstStyle/>
          <a:p>
            <a:pPr indent="0" marL="0">
              <a:buNone/>
            </a:pPr>
            <a:r>
              <a:rPr lang="en-US" sz="950" dirty="0">
                <a:solidFill>
                  <a:srgbClr val="FFFFFF"/>
                </a:solidFill>
                <a:latin typeface="Arial" pitchFamily="34" charset="0"/>
                <a:ea typeface="Arial" pitchFamily="34" charset="-122"/>
                <a:cs typeface="Arial" pitchFamily="34" charset="-120"/>
              </a:rPr>
              <a:t>Hover states, darker elements</a:t>
            </a:r>
            <a:endParaRPr lang="en-US" sz="950" dirty="0"/>
          </a:p>
        </p:txBody>
      </p:sp>
      <p:sp>
        <p:nvSpPr>
          <p:cNvPr id="13" name="Shape 11"/>
          <p:cNvSpPr/>
          <p:nvPr/>
        </p:nvSpPr>
        <p:spPr>
          <a:xfrm>
            <a:off x="8138160" y="1737360"/>
            <a:ext cx="3520440" cy="1371600"/>
          </a:xfrm>
          <a:prstGeom prst="roundRect">
            <a:avLst>
              <a:gd name="adj" fmla="val 5333"/>
            </a:avLst>
          </a:prstGeom>
          <a:solidFill>
            <a:srgbClr val="F5B342"/>
          </a:solidFill>
          <a:ln/>
        </p:spPr>
      </p:sp>
      <p:sp>
        <p:nvSpPr>
          <p:cNvPr id="14" name="Text 12"/>
          <p:cNvSpPr/>
          <p:nvPr/>
        </p:nvSpPr>
        <p:spPr>
          <a:xfrm>
            <a:off x="8321040" y="1901952"/>
            <a:ext cx="3154680" cy="320040"/>
          </a:xfrm>
          <a:prstGeom prst="rect">
            <a:avLst/>
          </a:prstGeom>
          <a:noFill/>
          <a:ln/>
        </p:spPr>
        <p:txBody>
          <a:bodyPr wrap="square" rtlCol="0" anchor="ctr"/>
          <a:lstStyle/>
          <a:p>
            <a:pPr indent="0" marL="0">
              <a:buNone/>
            </a:pPr>
            <a:r>
              <a:rPr lang="en-US" sz="1400" b="1" dirty="0">
                <a:solidFill>
                  <a:srgbClr val="1A2A3A"/>
                </a:solidFill>
                <a:latin typeface="Arial" pitchFamily="34" charset="0"/>
                <a:ea typeface="Arial" pitchFamily="34" charset="-122"/>
                <a:cs typeface="Arial" pitchFamily="34" charset="-120"/>
              </a:rPr>
              <a:t>eKhaya Gold</a:t>
            </a:r>
            <a:endParaRPr lang="en-US" sz="1400" dirty="0"/>
          </a:p>
        </p:txBody>
      </p:sp>
      <p:sp>
        <p:nvSpPr>
          <p:cNvPr id="15" name="Text 13"/>
          <p:cNvSpPr/>
          <p:nvPr/>
        </p:nvSpPr>
        <p:spPr>
          <a:xfrm>
            <a:off x="8321040" y="2240280"/>
            <a:ext cx="3154680" cy="274320"/>
          </a:xfrm>
          <a:prstGeom prst="rect">
            <a:avLst/>
          </a:prstGeom>
          <a:noFill/>
          <a:ln/>
        </p:spPr>
        <p:txBody>
          <a:bodyPr wrap="square" rtlCol="0" anchor="ctr"/>
          <a:lstStyle/>
          <a:p>
            <a:pPr indent="0" marL="0">
              <a:buNone/>
            </a:pPr>
            <a:r>
              <a:rPr lang="en-US" sz="1200" dirty="0">
                <a:solidFill>
                  <a:srgbClr val="1A2A3A"/>
                </a:solidFill>
                <a:latin typeface="Arial" pitchFamily="34" charset="0"/>
                <a:ea typeface="Arial" pitchFamily="34" charset="-122"/>
                <a:cs typeface="Arial" pitchFamily="34" charset="-120"/>
              </a:rPr>
              <a:t>#F5B342</a:t>
            </a:r>
            <a:endParaRPr lang="en-US" sz="1200" dirty="0"/>
          </a:p>
        </p:txBody>
      </p:sp>
      <p:sp>
        <p:nvSpPr>
          <p:cNvPr id="16" name="Text 14"/>
          <p:cNvSpPr/>
          <p:nvPr/>
        </p:nvSpPr>
        <p:spPr>
          <a:xfrm>
            <a:off x="8321040" y="2606040"/>
            <a:ext cx="3154680" cy="457200"/>
          </a:xfrm>
          <a:prstGeom prst="rect">
            <a:avLst/>
          </a:prstGeom>
          <a:noFill/>
          <a:ln/>
        </p:spPr>
        <p:txBody>
          <a:bodyPr wrap="square" rtlCol="0" anchor="t"/>
          <a:lstStyle/>
          <a:p>
            <a:pPr indent="0" marL="0">
              <a:buNone/>
            </a:pPr>
            <a:r>
              <a:rPr lang="en-US" sz="950" dirty="0">
                <a:solidFill>
                  <a:srgbClr val="1A2A3A"/>
                </a:solidFill>
                <a:latin typeface="Arial" pitchFamily="34" charset="0"/>
                <a:ea typeface="Arial" pitchFamily="34" charset="-122"/>
                <a:cs typeface="Arial" pitchFamily="34" charset="-120"/>
              </a:rPr>
              <a:t>Highlights, badges, CTAs</a:t>
            </a:r>
            <a:endParaRPr lang="en-US" sz="950" dirty="0"/>
          </a:p>
        </p:txBody>
      </p:sp>
      <p:sp>
        <p:nvSpPr>
          <p:cNvPr id="17" name="Text 15"/>
          <p:cNvSpPr/>
          <p:nvPr/>
        </p:nvSpPr>
        <p:spPr>
          <a:xfrm>
            <a:off x="548640" y="3246120"/>
            <a:ext cx="4572000" cy="274320"/>
          </a:xfrm>
          <a:prstGeom prst="rect">
            <a:avLst/>
          </a:prstGeom>
          <a:noFill/>
          <a:ln/>
        </p:spPr>
        <p:txBody>
          <a:bodyPr wrap="square" rtlCol="0" anchor="ctr"/>
          <a:lstStyle/>
          <a:p>
            <a:pPr indent="0" marL="0">
              <a:buNone/>
            </a:pPr>
            <a:r>
              <a:rPr lang="en-US" sz="1100" b="1" spc="100" kern="0" dirty="0">
                <a:solidFill>
                  <a:srgbClr val="0B8C3F"/>
                </a:solidFill>
                <a:latin typeface="Arial" pitchFamily="34" charset="0"/>
                <a:ea typeface="Arial" pitchFamily="34" charset="-122"/>
                <a:cs typeface="Arial" pitchFamily="34" charset="-120"/>
              </a:rPr>
              <a:t>NEUTRALS</a:t>
            </a:r>
            <a:endParaRPr lang="en-US" sz="1100" dirty="0"/>
          </a:p>
        </p:txBody>
      </p:sp>
      <p:sp>
        <p:nvSpPr>
          <p:cNvPr id="18" name="Shape 16"/>
          <p:cNvSpPr/>
          <p:nvPr/>
        </p:nvSpPr>
        <p:spPr>
          <a:xfrm>
            <a:off x="548640" y="3547872"/>
            <a:ext cx="2587752" cy="960120"/>
          </a:xfrm>
          <a:prstGeom prst="roundRect">
            <a:avLst>
              <a:gd name="adj" fmla="val 7619"/>
            </a:avLst>
          </a:prstGeom>
          <a:solidFill>
            <a:srgbClr val="1A2A3A"/>
          </a:solidFill>
          <a:ln/>
        </p:spPr>
      </p:sp>
      <p:sp>
        <p:nvSpPr>
          <p:cNvPr id="19" name="Text 17"/>
          <p:cNvSpPr/>
          <p:nvPr/>
        </p:nvSpPr>
        <p:spPr>
          <a:xfrm>
            <a:off x="685800" y="3666744"/>
            <a:ext cx="2313432" cy="274320"/>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Dark</a:t>
            </a:r>
            <a:endParaRPr lang="en-US" sz="1250" dirty="0"/>
          </a:p>
        </p:txBody>
      </p:sp>
      <p:sp>
        <p:nvSpPr>
          <p:cNvPr id="20" name="Text 18"/>
          <p:cNvSpPr/>
          <p:nvPr/>
        </p:nvSpPr>
        <p:spPr>
          <a:xfrm>
            <a:off x="685800" y="3950208"/>
            <a:ext cx="2313432" cy="22860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#1A2A3A</a:t>
            </a:r>
            <a:endParaRPr lang="en-US" sz="1050" dirty="0"/>
          </a:p>
        </p:txBody>
      </p:sp>
      <p:sp>
        <p:nvSpPr>
          <p:cNvPr id="21" name="Text 19"/>
          <p:cNvSpPr/>
          <p:nvPr/>
        </p:nvSpPr>
        <p:spPr>
          <a:xfrm>
            <a:off x="685800" y="4187952"/>
            <a:ext cx="2313432" cy="310896"/>
          </a:xfrm>
          <a:prstGeom prst="rect">
            <a:avLst/>
          </a:prstGeom>
          <a:noFill/>
          <a:ln/>
        </p:spPr>
        <p:txBody>
          <a:bodyPr wrap="square" rtlCol="0" anchor="t"/>
          <a:lstStyle/>
          <a:p>
            <a:pPr indent="0" marL="0">
              <a:buNone/>
            </a:pPr>
            <a:r>
              <a:rPr lang="en-US" sz="850" dirty="0">
                <a:solidFill>
                  <a:srgbClr val="FFFFFF"/>
                </a:solidFill>
                <a:latin typeface="Arial" pitchFamily="34" charset="0"/>
                <a:ea typeface="Arial" pitchFamily="34" charset="-122"/>
                <a:cs typeface="Arial" pitchFamily="34" charset="-120"/>
              </a:rPr>
              <a:t>Headlines, primary text</a:t>
            </a:r>
            <a:endParaRPr lang="en-US" sz="850" dirty="0"/>
          </a:p>
        </p:txBody>
      </p:sp>
      <p:sp>
        <p:nvSpPr>
          <p:cNvPr id="22" name="Shape 20"/>
          <p:cNvSpPr/>
          <p:nvPr/>
        </p:nvSpPr>
        <p:spPr>
          <a:xfrm>
            <a:off x="3337560" y="3547872"/>
            <a:ext cx="2587752" cy="960120"/>
          </a:xfrm>
          <a:prstGeom prst="roundRect">
            <a:avLst>
              <a:gd name="adj" fmla="val 7619"/>
            </a:avLst>
          </a:prstGeom>
          <a:solidFill>
            <a:srgbClr val="6C7A8A"/>
          </a:solidFill>
          <a:ln/>
        </p:spPr>
      </p:sp>
      <p:sp>
        <p:nvSpPr>
          <p:cNvPr id="23" name="Text 21"/>
          <p:cNvSpPr/>
          <p:nvPr/>
        </p:nvSpPr>
        <p:spPr>
          <a:xfrm>
            <a:off x="3474720" y="3666744"/>
            <a:ext cx="2313432" cy="274320"/>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Gray</a:t>
            </a:r>
            <a:endParaRPr lang="en-US" sz="1250" dirty="0"/>
          </a:p>
        </p:txBody>
      </p:sp>
      <p:sp>
        <p:nvSpPr>
          <p:cNvPr id="24" name="Text 22"/>
          <p:cNvSpPr/>
          <p:nvPr/>
        </p:nvSpPr>
        <p:spPr>
          <a:xfrm>
            <a:off x="3474720" y="3950208"/>
            <a:ext cx="2313432" cy="22860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#6C7A8A</a:t>
            </a:r>
            <a:endParaRPr lang="en-US" sz="1050" dirty="0"/>
          </a:p>
        </p:txBody>
      </p:sp>
      <p:sp>
        <p:nvSpPr>
          <p:cNvPr id="25" name="Text 23"/>
          <p:cNvSpPr/>
          <p:nvPr/>
        </p:nvSpPr>
        <p:spPr>
          <a:xfrm>
            <a:off x="3474720" y="4187952"/>
            <a:ext cx="2313432" cy="310896"/>
          </a:xfrm>
          <a:prstGeom prst="rect">
            <a:avLst/>
          </a:prstGeom>
          <a:noFill/>
          <a:ln/>
        </p:spPr>
        <p:txBody>
          <a:bodyPr wrap="square" rtlCol="0" anchor="t"/>
          <a:lstStyle/>
          <a:p>
            <a:pPr indent="0" marL="0">
              <a:buNone/>
            </a:pPr>
            <a:r>
              <a:rPr lang="en-US" sz="850" dirty="0">
                <a:solidFill>
                  <a:srgbClr val="FFFFFF"/>
                </a:solidFill>
                <a:latin typeface="Arial" pitchFamily="34" charset="0"/>
                <a:ea typeface="Arial" pitchFamily="34" charset="-122"/>
                <a:cs typeface="Arial" pitchFamily="34" charset="-120"/>
              </a:rPr>
              <a:t>Body text, secondary info</a:t>
            </a:r>
            <a:endParaRPr lang="en-US" sz="850" dirty="0"/>
          </a:p>
        </p:txBody>
      </p:sp>
      <p:sp>
        <p:nvSpPr>
          <p:cNvPr id="26" name="Shape 24"/>
          <p:cNvSpPr/>
          <p:nvPr/>
        </p:nvSpPr>
        <p:spPr>
          <a:xfrm>
            <a:off x="6126480" y="3547872"/>
            <a:ext cx="2587752" cy="960120"/>
          </a:xfrm>
          <a:prstGeom prst="roundRect">
            <a:avLst>
              <a:gd name="adj" fmla="val 7619"/>
            </a:avLst>
          </a:prstGeom>
          <a:solidFill>
            <a:srgbClr val="F8FAFC"/>
          </a:solidFill>
          <a:ln w="12700">
            <a:solidFill>
              <a:srgbClr val="E2E8F0"/>
            </a:solidFill>
            <a:prstDash val="solid"/>
          </a:ln>
        </p:spPr>
      </p:sp>
      <p:sp>
        <p:nvSpPr>
          <p:cNvPr id="27" name="Text 25"/>
          <p:cNvSpPr/>
          <p:nvPr/>
        </p:nvSpPr>
        <p:spPr>
          <a:xfrm>
            <a:off x="6263640" y="3666744"/>
            <a:ext cx="2313432" cy="274320"/>
          </a:xfrm>
          <a:prstGeom prst="rect">
            <a:avLst/>
          </a:prstGeom>
          <a:noFill/>
          <a:ln/>
        </p:spPr>
        <p:txBody>
          <a:bodyPr wrap="square" rtlCol="0" anchor="ctr"/>
          <a:lstStyle/>
          <a:p>
            <a:pPr indent="0" marL="0">
              <a:buNone/>
            </a:pPr>
            <a:r>
              <a:rPr lang="en-US" sz="1250" b="1" dirty="0">
                <a:solidFill>
                  <a:srgbClr val="1A2A3A"/>
                </a:solidFill>
                <a:latin typeface="Arial" pitchFamily="34" charset="0"/>
                <a:ea typeface="Arial" pitchFamily="34" charset="-122"/>
                <a:cs typeface="Arial" pitchFamily="34" charset="-120"/>
              </a:rPr>
              <a:t>Light</a:t>
            </a:r>
            <a:endParaRPr lang="en-US" sz="1250" dirty="0"/>
          </a:p>
        </p:txBody>
      </p:sp>
      <p:sp>
        <p:nvSpPr>
          <p:cNvPr id="28" name="Text 26"/>
          <p:cNvSpPr/>
          <p:nvPr/>
        </p:nvSpPr>
        <p:spPr>
          <a:xfrm>
            <a:off x="6263640" y="3950208"/>
            <a:ext cx="2313432" cy="228600"/>
          </a:xfrm>
          <a:prstGeom prst="rect">
            <a:avLst/>
          </a:prstGeom>
          <a:noFill/>
          <a:ln/>
        </p:spPr>
        <p:txBody>
          <a:bodyPr wrap="square" rtlCol="0" anchor="ctr"/>
          <a:lstStyle/>
          <a:p>
            <a:pPr indent="0" marL="0">
              <a:buNone/>
            </a:pPr>
            <a:r>
              <a:rPr lang="en-US" sz="1050" dirty="0">
                <a:solidFill>
                  <a:srgbClr val="1A2A3A"/>
                </a:solidFill>
                <a:latin typeface="Arial" pitchFamily="34" charset="0"/>
                <a:ea typeface="Arial" pitchFamily="34" charset="-122"/>
                <a:cs typeface="Arial" pitchFamily="34" charset="-120"/>
              </a:rPr>
              <a:t>#F8FAFC</a:t>
            </a:r>
            <a:endParaRPr lang="en-US" sz="1050" dirty="0"/>
          </a:p>
        </p:txBody>
      </p:sp>
      <p:sp>
        <p:nvSpPr>
          <p:cNvPr id="29" name="Text 27"/>
          <p:cNvSpPr/>
          <p:nvPr/>
        </p:nvSpPr>
        <p:spPr>
          <a:xfrm>
            <a:off x="6263640" y="4187952"/>
            <a:ext cx="2313432" cy="310896"/>
          </a:xfrm>
          <a:prstGeom prst="rect">
            <a:avLst/>
          </a:prstGeom>
          <a:noFill/>
          <a:ln/>
        </p:spPr>
        <p:txBody>
          <a:bodyPr wrap="square" rtlCol="0" anchor="t"/>
          <a:lstStyle/>
          <a:p>
            <a:pPr indent="0" marL="0">
              <a:buNone/>
            </a:pPr>
            <a:r>
              <a:rPr lang="en-US" sz="850" dirty="0">
                <a:solidFill>
                  <a:srgbClr val="1A2A3A"/>
                </a:solidFill>
                <a:latin typeface="Arial" pitchFamily="34" charset="0"/>
                <a:ea typeface="Arial" pitchFamily="34" charset="-122"/>
                <a:cs typeface="Arial" pitchFamily="34" charset="-120"/>
              </a:rPr>
              <a:t>Backgrounds</a:t>
            </a:r>
            <a:endParaRPr lang="en-US" sz="850" dirty="0"/>
          </a:p>
        </p:txBody>
      </p:sp>
      <p:sp>
        <p:nvSpPr>
          <p:cNvPr id="30" name="Shape 28"/>
          <p:cNvSpPr/>
          <p:nvPr/>
        </p:nvSpPr>
        <p:spPr>
          <a:xfrm>
            <a:off x="8915400" y="3547872"/>
            <a:ext cx="2587752" cy="960120"/>
          </a:xfrm>
          <a:prstGeom prst="roundRect">
            <a:avLst>
              <a:gd name="adj" fmla="val 7619"/>
            </a:avLst>
          </a:prstGeom>
          <a:solidFill>
            <a:srgbClr val="FFFFFF"/>
          </a:solidFill>
          <a:ln w="12700">
            <a:solidFill>
              <a:srgbClr val="E2E8F0"/>
            </a:solidFill>
            <a:prstDash val="solid"/>
          </a:ln>
        </p:spPr>
      </p:sp>
      <p:sp>
        <p:nvSpPr>
          <p:cNvPr id="31" name="Text 29"/>
          <p:cNvSpPr/>
          <p:nvPr/>
        </p:nvSpPr>
        <p:spPr>
          <a:xfrm>
            <a:off x="9052560" y="3666744"/>
            <a:ext cx="2313432" cy="274320"/>
          </a:xfrm>
          <a:prstGeom prst="rect">
            <a:avLst/>
          </a:prstGeom>
          <a:noFill/>
          <a:ln/>
        </p:spPr>
        <p:txBody>
          <a:bodyPr wrap="square" rtlCol="0" anchor="ctr"/>
          <a:lstStyle/>
          <a:p>
            <a:pPr indent="0" marL="0">
              <a:buNone/>
            </a:pPr>
            <a:r>
              <a:rPr lang="en-US" sz="1250" b="1" dirty="0">
                <a:solidFill>
                  <a:srgbClr val="1A2A3A"/>
                </a:solidFill>
                <a:latin typeface="Arial" pitchFamily="34" charset="0"/>
                <a:ea typeface="Arial" pitchFamily="34" charset="-122"/>
                <a:cs typeface="Arial" pitchFamily="34" charset="-120"/>
              </a:rPr>
              <a:t>White</a:t>
            </a:r>
            <a:endParaRPr lang="en-US" sz="1250" dirty="0"/>
          </a:p>
        </p:txBody>
      </p:sp>
      <p:sp>
        <p:nvSpPr>
          <p:cNvPr id="32" name="Text 30"/>
          <p:cNvSpPr/>
          <p:nvPr/>
        </p:nvSpPr>
        <p:spPr>
          <a:xfrm>
            <a:off x="9052560" y="3950208"/>
            <a:ext cx="2313432" cy="228600"/>
          </a:xfrm>
          <a:prstGeom prst="rect">
            <a:avLst/>
          </a:prstGeom>
          <a:noFill/>
          <a:ln/>
        </p:spPr>
        <p:txBody>
          <a:bodyPr wrap="square" rtlCol="0" anchor="ctr"/>
          <a:lstStyle/>
          <a:p>
            <a:pPr indent="0" marL="0">
              <a:buNone/>
            </a:pPr>
            <a:r>
              <a:rPr lang="en-US" sz="1050" dirty="0">
                <a:solidFill>
                  <a:srgbClr val="1A2A3A"/>
                </a:solidFill>
                <a:latin typeface="Arial" pitchFamily="34" charset="0"/>
                <a:ea typeface="Arial" pitchFamily="34" charset="-122"/>
                <a:cs typeface="Arial" pitchFamily="34" charset="-120"/>
              </a:rPr>
              <a:t>#FFFFFF</a:t>
            </a:r>
            <a:endParaRPr lang="en-US" sz="1050" dirty="0"/>
          </a:p>
        </p:txBody>
      </p:sp>
      <p:sp>
        <p:nvSpPr>
          <p:cNvPr id="33" name="Text 31"/>
          <p:cNvSpPr/>
          <p:nvPr/>
        </p:nvSpPr>
        <p:spPr>
          <a:xfrm>
            <a:off x="9052560" y="4187952"/>
            <a:ext cx="2313432" cy="310896"/>
          </a:xfrm>
          <a:prstGeom prst="rect">
            <a:avLst/>
          </a:prstGeom>
          <a:noFill/>
          <a:ln/>
        </p:spPr>
        <p:txBody>
          <a:bodyPr wrap="square" rtlCol="0" anchor="t"/>
          <a:lstStyle/>
          <a:p>
            <a:pPr indent="0" marL="0">
              <a:buNone/>
            </a:pPr>
            <a:r>
              <a:rPr lang="en-US" sz="850" dirty="0">
                <a:solidFill>
                  <a:srgbClr val="1A2A3A"/>
                </a:solidFill>
                <a:latin typeface="Arial" pitchFamily="34" charset="0"/>
                <a:ea typeface="Arial" pitchFamily="34" charset="-122"/>
                <a:cs typeface="Arial" pitchFamily="34" charset="-120"/>
              </a:rPr>
              <a:t>Cards, clean backgrounds</a:t>
            </a:r>
            <a:endParaRPr lang="en-US" sz="850" dirty="0"/>
          </a:p>
        </p:txBody>
      </p:sp>
      <p:sp>
        <p:nvSpPr>
          <p:cNvPr id="34" name="Text 32"/>
          <p:cNvSpPr/>
          <p:nvPr/>
        </p:nvSpPr>
        <p:spPr>
          <a:xfrm>
            <a:off x="548640" y="4754880"/>
            <a:ext cx="4572000" cy="274320"/>
          </a:xfrm>
          <a:prstGeom prst="rect">
            <a:avLst/>
          </a:prstGeom>
          <a:noFill/>
          <a:ln/>
        </p:spPr>
        <p:txBody>
          <a:bodyPr wrap="square" rtlCol="0" anchor="ctr"/>
          <a:lstStyle/>
          <a:p>
            <a:pPr indent="0" marL="0">
              <a:buNone/>
            </a:pPr>
            <a:r>
              <a:rPr lang="en-US" sz="1100" b="1" spc="100" kern="0" dirty="0">
                <a:solidFill>
                  <a:srgbClr val="0B8C3F"/>
                </a:solidFill>
                <a:latin typeface="Arial" pitchFamily="34" charset="0"/>
                <a:ea typeface="Arial" pitchFamily="34" charset="-122"/>
                <a:cs typeface="Arial" pitchFamily="34" charset="-120"/>
              </a:rPr>
              <a:t>ACCESSIBILITY</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5056632"/>
          <a:ext cx="11064240" cy="1234440"/>
        </p:xfrm>
        <a:graphic>
          <a:graphicData uri="http://schemas.openxmlformats.org/drawingml/2006/table">
            <a:tbl>
              <a:tblPr/>
              <a:tblGrid>
                <a:gridCol w="4114800"/>
                <a:gridCol w="3474720"/>
                <a:gridCol w="3474720"/>
              </a:tblGrid>
              <a:tr h="219456">
                <a:tc>
                  <a:txBody>
                    <a:bodyPr/>
                    <a:lstStyle/>
                    <a:p>
                      <a:pPr indent="0" marL="0">
                        <a:buNone/>
                      </a:pPr>
                      <a:r>
                        <a:rPr lang="en-US" sz="1050" b="1" dirty="0">
                          <a:solidFill>
                            <a:srgbClr val="FFFFFF"/>
                          </a:solidFill>
                          <a:latin typeface="Arial" pitchFamily="34" charset="0"/>
                          <a:ea typeface="Arial" pitchFamily="34" charset="-122"/>
                          <a:cs typeface="Arial" pitchFamily="34" charset="-120"/>
                        </a:rPr>
                        <a:t>Combination</a:t>
                      </a:r>
                      <a:endParaRPr lang="en-US" sz="10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2A3A"/>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Contrast Ratio</a:t>
                      </a:r>
                      <a:endParaRPr lang="en-US" sz="10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2A3A"/>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WCAG</a:t>
                      </a:r>
                      <a:endParaRPr lang="en-US" sz="10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2A3A"/>
                    </a:solidFill>
                  </a:tcPr>
                </a:tc>
              </a:tr>
              <a:tr h="219456">
                <a:tc>
                  <a:txBody>
                    <a:bodyPr/>
                    <a:lstStyle/>
                    <a:p>
                      <a:pPr indent="0" marL="0">
                        <a:buNone/>
                      </a:pPr>
                      <a:r>
                        <a:rPr lang="en-US" sz="1050" dirty="0">
                          <a:solidFill>
                            <a:srgbClr val="1A2A3A"/>
                          </a:solidFill>
                          <a:latin typeface="Arial" pitchFamily="34" charset="0"/>
                          <a:ea typeface="Arial" pitchFamily="34" charset="-122"/>
                          <a:cs typeface="Arial" pitchFamily="34" charset="-120"/>
                        </a:rPr>
                        <a:t>Green on White</a:t>
                      </a:r>
                      <a:endParaRPr lang="en-US" sz="10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1A2A3A"/>
                          </a:solidFill>
                          <a:latin typeface="Arial" pitchFamily="34" charset="0"/>
                          <a:ea typeface="Arial" pitchFamily="34" charset="-122"/>
                          <a:cs typeface="Arial" pitchFamily="34" charset="-120"/>
                        </a:rPr>
                        <a:t>4.5:1</a:t>
                      </a:r>
                      <a:endParaRPr lang="en-US" sz="10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1A2A3A"/>
                          </a:solidFill>
                          <a:latin typeface="Arial" pitchFamily="34" charset="0"/>
                          <a:ea typeface="Arial" pitchFamily="34" charset="-122"/>
                          <a:cs typeface="Arial" pitchFamily="34" charset="-120"/>
                        </a:rPr>
                        <a:t>✅ AA (pass)</a:t>
                      </a:r>
                      <a:endParaRPr lang="en-US" sz="10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219456">
                <a:tc>
                  <a:txBody>
                    <a:bodyPr/>
                    <a:lstStyle/>
                    <a:p>
                      <a:pPr indent="0" marL="0">
                        <a:buNone/>
                      </a:pPr>
                      <a:r>
                        <a:rPr lang="en-US" sz="1050" dirty="0">
                          <a:solidFill>
                            <a:srgbClr val="1A2A3A"/>
                          </a:solidFill>
                          <a:latin typeface="Arial" pitchFamily="34" charset="0"/>
                          <a:ea typeface="Arial" pitchFamily="34" charset="-122"/>
                          <a:cs typeface="Arial" pitchFamily="34" charset="-120"/>
                        </a:rPr>
                        <a:t>Gold on White</a:t>
                      </a:r>
                      <a:endParaRPr lang="en-US" sz="10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1A2A3A"/>
                          </a:solidFill>
                          <a:latin typeface="Arial" pitchFamily="34" charset="0"/>
                          <a:ea typeface="Arial" pitchFamily="34" charset="-122"/>
                          <a:cs typeface="Arial" pitchFamily="34" charset="-120"/>
                        </a:rPr>
                        <a:t>2.8:1</a:t>
                      </a:r>
                      <a:endParaRPr lang="en-US" sz="10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1A2A3A"/>
                          </a:solidFill>
                          <a:latin typeface="Arial" pitchFamily="34" charset="0"/>
                          <a:ea typeface="Arial" pitchFamily="34" charset="-122"/>
                          <a:cs typeface="Arial" pitchFamily="34" charset="-120"/>
                        </a:rPr>
                        <a:t>❌ Fails (accents only)</a:t>
                      </a:r>
                      <a:endParaRPr lang="en-US" sz="10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219456">
                <a:tc>
                  <a:txBody>
                    <a:bodyPr/>
                    <a:lstStyle/>
                    <a:p>
                      <a:pPr indent="0" marL="0">
                        <a:buNone/>
                      </a:pPr>
                      <a:r>
                        <a:rPr lang="en-US" sz="1050" dirty="0">
                          <a:solidFill>
                            <a:srgbClr val="1A2A3A"/>
                          </a:solidFill>
                          <a:latin typeface="Arial" pitchFamily="34" charset="0"/>
                          <a:ea typeface="Arial" pitchFamily="34" charset="-122"/>
                          <a:cs typeface="Arial" pitchFamily="34" charset="-120"/>
                        </a:rPr>
                        <a:t>White on Green</a:t>
                      </a:r>
                      <a:endParaRPr lang="en-US" sz="10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1A2A3A"/>
                          </a:solidFill>
                          <a:latin typeface="Arial" pitchFamily="34" charset="0"/>
                          <a:ea typeface="Arial" pitchFamily="34" charset="-122"/>
                          <a:cs typeface="Arial" pitchFamily="34" charset="-120"/>
                        </a:rPr>
                        <a:t>4.5:1</a:t>
                      </a:r>
                      <a:endParaRPr lang="en-US" sz="10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1A2A3A"/>
                          </a:solidFill>
                          <a:latin typeface="Arial" pitchFamily="34" charset="0"/>
                          <a:ea typeface="Arial" pitchFamily="34" charset="-122"/>
                          <a:cs typeface="Arial" pitchFamily="34" charset="-120"/>
                        </a:rPr>
                        <a:t>✅ AA (pass)</a:t>
                      </a:r>
                      <a:endParaRPr lang="en-US" sz="10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219456">
                <a:tc>
                  <a:txBody>
                    <a:bodyPr/>
                    <a:lstStyle/>
                    <a:p>
                      <a:pPr indent="0" marL="0">
                        <a:buNone/>
                      </a:pPr>
                      <a:r>
                        <a:rPr lang="en-US" sz="1050" dirty="0">
                          <a:solidFill>
                            <a:srgbClr val="1A2A3A"/>
                          </a:solidFill>
                          <a:latin typeface="Arial" pitchFamily="34" charset="0"/>
                          <a:ea typeface="Arial" pitchFamily="34" charset="-122"/>
                          <a:cs typeface="Arial" pitchFamily="34" charset="-120"/>
                        </a:rPr>
                        <a:t>Dark on White</a:t>
                      </a:r>
                      <a:endParaRPr lang="en-US" sz="10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1A2A3A"/>
                          </a:solidFill>
                          <a:latin typeface="Arial" pitchFamily="34" charset="0"/>
                          <a:ea typeface="Arial" pitchFamily="34" charset="-122"/>
                          <a:cs typeface="Arial" pitchFamily="34" charset="-120"/>
                        </a:rPr>
                        <a:t>15:1</a:t>
                      </a:r>
                      <a:endParaRPr lang="en-US" sz="10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1A2A3A"/>
                          </a:solidFill>
                          <a:latin typeface="Arial" pitchFamily="34" charset="0"/>
                          <a:ea typeface="Arial" pitchFamily="34" charset="-122"/>
                          <a:cs typeface="Arial" pitchFamily="34" charset="-120"/>
                        </a:rPr>
                        <a:t>✅ AAA (pass)</a:t>
                      </a:r>
                      <a:endParaRPr lang="en-US" sz="10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36" name="Shape 33"/>
          <p:cNvSpPr/>
          <p:nvPr/>
        </p:nvSpPr>
        <p:spPr>
          <a:xfrm>
            <a:off x="457200" y="6400800"/>
            <a:ext cx="292608" cy="292608"/>
          </a:xfrm>
          <a:prstGeom prst="roundRect">
            <a:avLst>
              <a:gd name="adj" fmla="val 16000"/>
            </a:avLst>
          </a:prstGeom>
          <a:solidFill>
            <a:srgbClr val="FFFFFF"/>
          </a:solidFill>
          <a:ln w="12700">
            <a:solidFill>
              <a:srgbClr val="E2E8F0"/>
            </a:solidFill>
            <a:prstDash val="solid"/>
          </a:ln>
        </p:spPr>
      </p:sp>
      <p:pic>
        <p:nvPicPr>
          <p:cNvPr id="37" name="Image 0" descr="/home/claude/ekhaya/logo_icon_square.png">    </p:cNvPr>
          <p:cNvPicPr>
            <a:picLocks noChangeAspect="1"/>
          </p:cNvPicPr>
          <p:nvPr/>
        </p:nvPicPr>
        <p:blipFill>
          <a:blip r:embed="rId1"/>
          <a:stretch>
            <a:fillRect/>
          </a:stretch>
        </p:blipFill>
        <p:spPr>
          <a:xfrm>
            <a:off x="483535" y="6427135"/>
            <a:ext cx="239939" cy="239939"/>
          </a:xfrm>
          <a:prstGeom prst="rect">
            <a:avLst/>
          </a:prstGeom>
        </p:spPr>
      </p:pic>
      <p:sp>
        <p:nvSpPr>
          <p:cNvPr id="38" name="Text 34"/>
          <p:cNvSpPr/>
          <p:nvPr/>
        </p:nvSpPr>
        <p:spPr>
          <a:xfrm>
            <a:off x="841248" y="6419088"/>
            <a:ext cx="4572000" cy="292608"/>
          </a:xfrm>
          <a:prstGeom prst="rect">
            <a:avLst/>
          </a:prstGeom>
          <a:noFill/>
          <a:ln/>
        </p:spPr>
        <p:txBody>
          <a:bodyPr wrap="square" rtlCol="0" anchor="ctr"/>
          <a:lstStyle/>
          <a:p>
            <a:pPr indent="0" marL="0">
              <a:buNone/>
            </a:pPr>
            <a:r>
              <a:rPr lang="en-US" sz="900" dirty="0">
                <a:solidFill>
                  <a:srgbClr val="6C7A8A"/>
                </a:solidFill>
                <a:latin typeface="Arial" pitchFamily="34" charset="0"/>
                <a:ea typeface="Arial" pitchFamily="34" charset="-122"/>
                <a:cs typeface="Arial" pitchFamily="34" charset="-120"/>
              </a:rPr>
              <a:t>eKhaya Connect · Brand Guide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0B8C3F"/>
                </a:solidFill>
                <a:latin typeface="Arial" pitchFamily="34" charset="0"/>
                <a:ea typeface="Arial" pitchFamily="34" charset="-122"/>
                <a:cs typeface="Arial" pitchFamily="34" charset="-120"/>
              </a:rPr>
              <a:t>VISUAL IDENTITY</a:t>
            </a:r>
            <a:endParaRPr lang="en-US" sz="1300" dirty="0"/>
          </a:p>
        </p:txBody>
      </p:sp>
      <p:sp>
        <p:nvSpPr>
          <p:cNvPr id="3" name="Text 1"/>
          <p:cNvSpPr/>
          <p:nvPr/>
        </p:nvSpPr>
        <p:spPr>
          <a:xfrm>
            <a:off x="548640" y="658368"/>
            <a:ext cx="10789920" cy="658368"/>
          </a:xfrm>
          <a:prstGeom prst="rect">
            <a:avLst/>
          </a:prstGeom>
          <a:noFill/>
          <a:ln/>
        </p:spPr>
        <p:txBody>
          <a:bodyPr wrap="square" rtlCol="0" anchor="ctr"/>
          <a:lstStyle/>
          <a:p>
            <a:pPr indent="0" marL="0">
              <a:buNone/>
            </a:pPr>
            <a:r>
              <a:rPr lang="en-US" sz="3000" b="1" dirty="0">
                <a:solidFill>
                  <a:srgbClr val="1A2A3A"/>
                </a:solidFill>
                <a:latin typeface="Arial" pitchFamily="34" charset="0"/>
                <a:ea typeface="Arial" pitchFamily="34" charset="-122"/>
                <a:cs typeface="Arial" pitchFamily="34" charset="-120"/>
              </a:rPr>
              <a:t>Typography</a:t>
            </a:r>
            <a:endParaRPr lang="en-US" sz="3000" dirty="0"/>
          </a:p>
        </p:txBody>
      </p:sp>
      <p:sp>
        <p:nvSpPr>
          <p:cNvPr id="4" name="Text 2"/>
          <p:cNvSpPr/>
          <p:nvPr/>
        </p:nvSpPr>
        <p:spPr>
          <a:xfrm>
            <a:off x="548640" y="1463040"/>
            <a:ext cx="7315200" cy="365760"/>
          </a:xfrm>
          <a:prstGeom prst="rect">
            <a:avLst/>
          </a:prstGeom>
          <a:noFill/>
          <a:ln/>
        </p:spPr>
        <p:txBody>
          <a:bodyPr wrap="square" rtlCol="0" anchor="ctr"/>
          <a:lstStyle/>
          <a:p>
            <a:pPr indent="0" marL="0">
              <a:buNone/>
            </a:pPr>
            <a:r>
              <a:rPr lang="en-US" sz="1700" b="1" dirty="0">
                <a:solidFill>
                  <a:srgbClr val="1A2A3A"/>
                </a:solidFill>
                <a:latin typeface="Arial" pitchFamily="34" charset="0"/>
                <a:ea typeface="Arial" pitchFamily="34" charset="-122"/>
                <a:cs typeface="Arial" pitchFamily="34" charset="-120"/>
              </a:rPr>
              <a:t>Primary Font: Inter</a:t>
            </a:r>
            <a:endParaRPr lang="en-US" sz="1700" dirty="0"/>
          </a:p>
        </p:txBody>
      </p:sp>
      <p:sp>
        <p:nvSpPr>
          <p:cNvPr id="5" name="Text 3"/>
          <p:cNvSpPr/>
          <p:nvPr/>
        </p:nvSpPr>
        <p:spPr>
          <a:xfrm>
            <a:off x="548640" y="1828800"/>
            <a:ext cx="7315200" cy="320040"/>
          </a:xfrm>
          <a:prstGeom prst="rect">
            <a:avLst/>
          </a:prstGeom>
          <a:noFill/>
          <a:ln/>
        </p:spPr>
        <p:txBody>
          <a:bodyPr wrap="square" rtlCol="0" anchor="ctr"/>
          <a:lstStyle/>
          <a:p>
            <a:pPr indent="0" marL="0">
              <a:buNone/>
            </a:pPr>
            <a:r>
              <a:rPr lang="en-US" sz="1200" i="1" dirty="0">
                <a:solidFill>
                  <a:srgbClr val="6C7A8A"/>
                </a:solidFill>
                <a:latin typeface="Arial" pitchFamily="34" charset="0"/>
                <a:ea typeface="Arial" pitchFamily="34" charset="-122"/>
                <a:cs typeface="Arial" pitchFamily="34" charset="-120"/>
              </a:rPr>
              <a:t>Clean, modern, highly readable — and free.</a:t>
            </a:r>
            <a:endParaRPr lang="en-US" sz="1200" dirty="0"/>
          </a:p>
        </p:txBody>
      </p:sp>
      <p:sp>
        <p:nvSpPr>
          <p:cNvPr id="6" name="Text 4"/>
          <p:cNvSpPr/>
          <p:nvPr/>
        </p:nvSpPr>
        <p:spPr>
          <a:xfrm>
            <a:off x="548640" y="2331720"/>
            <a:ext cx="3840480" cy="457200"/>
          </a:xfrm>
          <a:prstGeom prst="rect">
            <a:avLst/>
          </a:prstGeom>
          <a:noFill/>
          <a:ln/>
        </p:spPr>
        <p:txBody>
          <a:bodyPr wrap="square" rtlCol="0" anchor="ctr"/>
          <a:lstStyle/>
          <a:p>
            <a:pPr indent="0" marL="0">
              <a:buNone/>
            </a:pPr>
            <a:r>
              <a:rPr lang="en-US" sz="2600" b="1" dirty="0">
                <a:solidFill>
                  <a:srgbClr val="1A2A3A"/>
                </a:solidFill>
                <a:latin typeface="Arial" pitchFamily="34" charset="0"/>
                <a:ea typeface="Arial" pitchFamily="34" charset="-122"/>
                <a:cs typeface="Arial" pitchFamily="34" charset="-120"/>
              </a:rPr>
              <a:t>Inter 800</a:t>
            </a:r>
            <a:endParaRPr lang="en-US" sz="2600" dirty="0"/>
          </a:p>
        </p:txBody>
      </p:sp>
      <p:sp>
        <p:nvSpPr>
          <p:cNvPr id="7" name="Text 5"/>
          <p:cNvSpPr/>
          <p:nvPr/>
        </p:nvSpPr>
        <p:spPr>
          <a:xfrm>
            <a:off x="4480560" y="2331720"/>
            <a:ext cx="4114800" cy="457200"/>
          </a:xfrm>
          <a:prstGeom prst="rect">
            <a:avLst/>
          </a:prstGeom>
          <a:noFill/>
          <a:ln/>
        </p:spPr>
        <p:txBody>
          <a:bodyPr wrap="square" rtlCol="0" anchor="ctr"/>
          <a:lstStyle/>
          <a:p>
            <a:pPr indent="0" marL="0">
              <a:buNone/>
            </a:pPr>
            <a:r>
              <a:rPr lang="en-US" sz="1100" dirty="0">
                <a:solidFill>
                  <a:srgbClr val="6C7A8A"/>
                </a:solidFill>
                <a:latin typeface="Arial" pitchFamily="34" charset="0"/>
                <a:ea typeface="Arial" pitchFamily="34" charset="-122"/>
                <a:cs typeface="Arial" pitchFamily="34" charset="-120"/>
              </a:rPr>
              <a:t>Headlines, hero text</a:t>
            </a:r>
            <a:endParaRPr lang="en-US" sz="1100" dirty="0"/>
          </a:p>
        </p:txBody>
      </p:sp>
      <p:sp>
        <p:nvSpPr>
          <p:cNvPr id="8" name="Text 6"/>
          <p:cNvSpPr/>
          <p:nvPr/>
        </p:nvSpPr>
        <p:spPr>
          <a:xfrm>
            <a:off x="548640" y="2898648"/>
            <a:ext cx="3840480" cy="457200"/>
          </a:xfrm>
          <a:prstGeom prst="rect">
            <a:avLst/>
          </a:prstGeom>
          <a:noFill/>
          <a:ln/>
        </p:spPr>
        <p:txBody>
          <a:bodyPr wrap="square" rtlCol="0" anchor="ctr"/>
          <a:lstStyle/>
          <a:p>
            <a:pPr indent="0" marL="0">
              <a:buNone/>
            </a:pPr>
            <a:r>
              <a:rPr lang="en-US" sz="2000" b="1" dirty="0">
                <a:solidFill>
                  <a:srgbClr val="1A2A3A"/>
                </a:solidFill>
                <a:latin typeface="Arial" pitchFamily="34" charset="0"/>
                <a:ea typeface="Arial" pitchFamily="34" charset="-122"/>
                <a:cs typeface="Arial" pitchFamily="34" charset="-120"/>
              </a:rPr>
              <a:t>Inter 700</a:t>
            </a:r>
            <a:endParaRPr lang="en-US" sz="2000" dirty="0"/>
          </a:p>
        </p:txBody>
      </p:sp>
      <p:sp>
        <p:nvSpPr>
          <p:cNvPr id="9" name="Text 7"/>
          <p:cNvSpPr/>
          <p:nvPr/>
        </p:nvSpPr>
        <p:spPr>
          <a:xfrm>
            <a:off x="4480560" y="2898648"/>
            <a:ext cx="4114800" cy="457200"/>
          </a:xfrm>
          <a:prstGeom prst="rect">
            <a:avLst/>
          </a:prstGeom>
          <a:noFill/>
          <a:ln/>
        </p:spPr>
        <p:txBody>
          <a:bodyPr wrap="square" rtlCol="0" anchor="ctr"/>
          <a:lstStyle/>
          <a:p>
            <a:pPr indent="0" marL="0">
              <a:buNone/>
            </a:pPr>
            <a:r>
              <a:rPr lang="en-US" sz="1100" dirty="0">
                <a:solidFill>
                  <a:srgbClr val="6C7A8A"/>
                </a:solidFill>
                <a:latin typeface="Arial" pitchFamily="34" charset="0"/>
                <a:ea typeface="Arial" pitchFamily="34" charset="-122"/>
                <a:cs typeface="Arial" pitchFamily="34" charset="-120"/>
              </a:rPr>
              <a:t>Subheadings, navigation</a:t>
            </a:r>
            <a:endParaRPr lang="en-US" sz="1100" dirty="0"/>
          </a:p>
        </p:txBody>
      </p:sp>
      <p:sp>
        <p:nvSpPr>
          <p:cNvPr id="10" name="Text 8"/>
          <p:cNvSpPr/>
          <p:nvPr/>
        </p:nvSpPr>
        <p:spPr>
          <a:xfrm>
            <a:off x="548640" y="3465576"/>
            <a:ext cx="3840480" cy="457200"/>
          </a:xfrm>
          <a:prstGeom prst="rect">
            <a:avLst/>
          </a:prstGeom>
          <a:noFill/>
          <a:ln/>
        </p:spPr>
        <p:txBody>
          <a:bodyPr wrap="square" rtlCol="0" anchor="ctr"/>
          <a:lstStyle/>
          <a:p>
            <a:pPr indent="0" marL="0">
              <a:buNone/>
            </a:pPr>
            <a:r>
              <a:rPr lang="en-US" sz="1600" b="1" dirty="0">
                <a:solidFill>
                  <a:srgbClr val="1A2A3A"/>
                </a:solidFill>
                <a:latin typeface="Arial" pitchFamily="34" charset="0"/>
                <a:ea typeface="Arial" pitchFamily="34" charset="-122"/>
                <a:cs typeface="Arial" pitchFamily="34" charset="-120"/>
              </a:rPr>
              <a:t>Inter 600</a:t>
            </a:r>
            <a:endParaRPr lang="en-US" sz="1600" dirty="0"/>
          </a:p>
        </p:txBody>
      </p:sp>
      <p:sp>
        <p:nvSpPr>
          <p:cNvPr id="11" name="Text 9"/>
          <p:cNvSpPr/>
          <p:nvPr/>
        </p:nvSpPr>
        <p:spPr>
          <a:xfrm>
            <a:off x="4480560" y="3465576"/>
            <a:ext cx="4114800" cy="457200"/>
          </a:xfrm>
          <a:prstGeom prst="rect">
            <a:avLst/>
          </a:prstGeom>
          <a:noFill/>
          <a:ln/>
        </p:spPr>
        <p:txBody>
          <a:bodyPr wrap="square" rtlCol="0" anchor="ctr"/>
          <a:lstStyle/>
          <a:p>
            <a:pPr indent="0" marL="0">
              <a:buNone/>
            </a:pPr>
            <a:r>
              <a:rPr lang="en-US" sz="1100" dirty="0">
                <a:solidFill>
                  <a:srgbClr val="6C7A8A"/>
                </a:solidFill>
                <a:latin typeface="Arial" pitchFamily="34" charset="0"/>
                <a:ea typeface="Arial" pitchFamily="34" charset="-122"/>
                <a:cs typeface="Arial" pitchFamily="34" charset="-120"/>
              </a:rPr>
              <a:t>Card titles, buttons</a:t>
            </a:r>
            <a:endParaRPr lang="en-US" sz="1100" dirty="0"/>
          </a:p>
        </p:txBody>
      </p:sp>
      <p:sp>
        <p:nvSpPr>
          <p:cNvPr id="12" name="Text 10"/>
          <p:cNvSpPr/>
          <p:nvPr/>
        </p:nvSpPr>
        <p:spPr>
          <a:xfrm>
            <a:off x="548640" y="4032504"/>
            <a:ext cx="3840480" cy="457200"/>
          </a:xfrm>
          <a:prstGeom prst="rect">
            <a:avLst/>
          </a:prstGeom>
          <a:noFill/>
          <a:ln/>
        </p:spPr>
        <p:txBody>
          <a:bodyPr wrap="square" rtlCol="0" anchor="ctr"/>
          <a:lstStyle/>
          <a:p>
            <a:pPr indent="0" marL="0">
              <a:buNone/>
            </a:pPr>
            <a:r>
              <a:rPr lang="en-US" sz="1300" dirty="0">
                <a:solidFill>
                  <a:srgbClr val="1A2A3A"/>
                </a:solidFill>
                <a:latin typeface="Arial" pitchFamily="34" charset="0"/>
                <a:ea typeface="Arial" pitchFamily="34" charset="-122"/>
                <a:cs typeface="Arial" pitchFamily="34" charset="-120"/>
              </a:rPr>
              <a:t>Inter 400</a:t>
            </a:r>
            <a:endParaRPr lang="en-US" sz="1300" dirty="0"/>
          </a:p>
        </p:txBody>
      </p:sp>
      <p:sp>
        <p:nvSpPr>
          <p:cNvPr id="13" name="Text 11"/>
          <p:cNvSpPr/>
          <p:nvPr/>
        </p:nvSpPr>
        <p:spPr>
          <a:xfrm>
            <a:off x="4480560" y="4032504"/>
            <a:ext cx="4114800" cy="457200"/>
          </a:xfrm>
          <a:prstGeom prst="rect">
            <a:avLst/>
          </a:prstGeom>
          <a:noFill/>
          <a:ln/>
        </p:spPr>
        <p:txBody>
          <a:bodyPr wrap="square" rtlCol="0" anchor="ctr"/>
          <a:lstStyle/>
          <a:p>
            <a:pPr indent="0" marL="0">
              <a:buNone/>
            </a:pPr>
            <a:r>
              <a:rPr lang="en-US" sz="1100" dirty="0">
                <a:solidFill>
                  <a:srgbClr val="6C7A8A"/>
                </a:solidFill>
                <a:latin typeface="Arial" pitchFamily="34" charset="0"/>
                <a:ea typeface="Arial" pitchFamily="34" charset="-122"/>
                <a:cs typeface="Arial" pitchFamily="34" charset="-120"/>
              </a:rPr>
              <a:t>Body text, paragraphs</a:t>
            </a:r>
            <a:endParaRPr lang="en-US" sz="1100" dirty="0"/>
          </a:p>
        </p:txBody>
      </p:sp>
      <p:sp>
        <p:nvSpPr>
          <p:cNvPr id="14" name="Text 12"/>
          <p:cNvSpPr/>
          <p:nvPr/>
        </p:nvSpPr>
        <p:spPr>
          <a:xfrm>
            <a:off x="8869680" y="1417320"/>
            <a:ext cx="2743200" cy="274320"/>
          </a:xfrm>
          <a:prstGeom prst="rect">
            <a:avLst/>
          </a:prstGeom>
          <a:noFill/>
          <a:ln/>
        </p:spPr>
        <p:txBody>
          <a:bodyPr wrap="square" rtlCol="0" anchor="ctr"/>
          <a:lstStyle/>
          <a:p>
            <a:pPr indent="0" marL="0">
              <a:buNone/>
            </a:pPr>
            <a:r>
              <a:rPr lang="en-US" sz="1100" b="1" spc="100" kern="0" dirty="0">
                <a:solidFill>
                  <a:srgbClr val="0B8C3F"/>
                </a:solidFill>
                <a:latin typeface="Arial" pitchFamily="34" charset="0"/>
                <a:ea typeface="Arial" pitchFamily="34" charset="-122"/>
                <a:cs typeface="Arial" pitchFamily="34" charset="-120"/>
              </a:rPr>
              <a:t>WEB SIZES</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869680" y="1737360"/>
          <a:ext cx="2788920" cy="2331720"/>
        </p:xfrm>
        <a:graphic>
          <a:graphicData uri="http://schemas.openxmlformats.org/drawingml/2006/table">
            <a:tbl>
              <a:tblPr/>
              <a:tblGrid>
                <a:gridCol w="1463040"/>
                <a:gridCol w="1325880"/>
              </a:tblGrid>
              <a:tr h="384048">
                <a:tc>
                  <a:txBody>
                    <a:bodyPr/>
                    <a:lstStyle/>
                    <a:p>
                      <a:pPr indent="0" marL="0">
                        <a:buNone/>
                      </a:pPr>
                      <a:r>
                        <a:rPr lang="en-US" sz="950" b="1" dirty="0">
                          <a:solidFill>
                            <a:srgbClr val="FFFFFF"/>
                          </a:solidFill>
                          <a:latin typeface="Arial" pitchFamily="34" charset="0"/>
                          <a:ea typeface="Arial" pitchFamily="34" charset="-122"/>
                          <a:cs typeface="Arial" pitchFamily="34" charset="-120"/>
                        </a:rPr>
                        <a:t>Element</a:t>
                      </a:r>
                      <a:endParaRPr lang="en-US" sz="9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8C3F"/>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Size / Wt</a:t>
                      </a:r>
                      <a:endParaRPr lang="en-US" sz="9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8C3F"/>
                    </a:solidFill>
                  </a:tcPr>
                </a:tc>
              </a:tr>
              <a:tr h="384048">
                <a:tc>
                  <a:txBody>
                    <a:bodyPr/>
                    <a:lstStyle/>
                    <a:p>
                      <a:pPr indent="0" marL="0">
                        <a:buNone/>
                      </a:pPr>
                      <a:r>
                        <a:rPr lang="en-US" sz="950" dirty="0">
                          <a:solidFill>
                            <a:srgbClr val="1A2A3A"/>
                          </a:solidFill>
                          <a:latin typeface="Arial" pitchFamily="34" charset="0"/>
                          <a:ea typeface="Arial" pitchFamily="34" charset="-122"/>
                          <a:cs typeface="Arial" pitchFamily="34" charset="-120"/>
                        </a:rPr>
                        <a:t>Hero Headline</a:t>
                      </a:r>
                      <a:endParaRPr lang="en-US" sz="9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1A2A3A"/>
                          </a:solidFill>
                          <a:latin typeface="Arial" pitchFamily="34" charset="0"/>
                          <a:ea typeface="Arial" pitchFamily="34" charset="-122"/>
                          <a:cs typeface="Arial" pitchFamily="34" charset="-120"/>
                        </a:rPr>
                        <a:t>54px / 800</a:t>
                      </a:r>
                      <a:endParaRPr lang="en-US" sz="9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84048">
                <a:tc>
                  <a:txBody>
                    <a:bodyPr/>
                    <a:lstStyle/>
                    <a:p>
                      <a:pPr indent="0" marL="0">
                        <a:buNone/>
                      </a:pPr>
                      <a:r>
                        <a:rPr lang="en-US" sz="950" dirty="0">
                          <a:solidFill>
                            <a:srgbClr val="1A2A3A"/>
                          </a:solidFill>
                          <a:latin typeface="Arial" pitchFamily="34" charset="0"/>
                          <a:ea typeface="Arial" pitchFamily="34" charset="-122"/>
                          <a:cs typeface="Arial" pitchFamily="34" charset="-120"/>
                        </a:rPr>
                        <a:t>Section Title</a:t>
                      </a:r>
                      <a:endParaRPr lang="en-US" sz="9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1A2A3A"/>
                          </a:solidFill>
                          <a:latin typeface="Arial" pitchFamily="34" charset="0"/>
                          <a:ea typeface="Arial" pitchFamily="34" charset="-122"/>
                          <a:cs typeface="Arial" pitchFamily="34" charset="-120"/>
                        </a:rPr>
                        <a:t>38px / 800</a:t>
                      </a:r>
                      <a:endParaRPr lang="en-US" sz="9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84048">
                <a:tc>
                  <a:txBody>
                    <a:bodyPr/>
                    <a:lstStyle/>
                    <a:p>
                      <a:pPr indent="0" marL="0">
                        <a:buNone/>
                      </a:pPr>
                      <a:r>
                        <a:rPr lang="en-US" sz="950" dirty="0">
                          <a:solidFill>
                            <a:srgbClr val="1A2A3A"/>
                          </a:solidFill>
                          <a:latin typeface="Arial" pitchFamily="34" charset="0"/>
                          <a:ea typeface="Arial" pitchFamily="34" charset="-122"/>
                          <a:cs typeface="Arial" pitchFamily="34" charset="-120"/>
                        </a:rPr>
                        <a:t>Plan Price</a:t>
                      </a:r>
                      <a:endParaRPr lang="en-US" sz="9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1A2A3A"/>
                          </a:solidFill>
                          <a:latin typeface="Arial" pitchFamily="34" charset="0"/>
                          <a:ea typeface="Arial" pitchFamily="34" charset="-122"/>
                          <a:cs typeface="Arial" pitchFamily="34" charset="-120"/>
                        </a:rPr>
                        <a:t>45px / 800</a:t>
                      </a:r>
                      <a:endParaRPr lang="en-US" sz="9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84048">
                <a:tc>
                  <a:txBody>
                    <a:bodyPr/>
                    <a:lstStyle/>
                    <a:p>
                      <a:pPr indent="0" marL="0">
                        <a:buNone/>
                      </a:pPr>
                      <a:r>
                        <a:rPr lang="en-US" sz="950" dirty="0">
                          <a:solidFill>
                            <a:srgbClr val="1A2A3A"/>
                          </a:solidFill>
                          <a:latin typeface="Arial" pitchFamily="34" charset="0"/>
                          <a:ea typeface="Arial" pitchFamily="34" charset="-122"/>
                          <a:cs typeface="Arial" pitchFamily="34" charset="-120"/>
                        </a:rPr>
                        <a:t>Body Text</a:t>
                      </a:r>
                      <a:endParaRPr lang="en-US" sz="9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1A2A3A"/>
                          </a:solidFill>
                          <a:latin typeface="Arial" pitchFamily="34" charset="0"/>
                          <a:ea typeface="Arial" pitchFamily="34" charset="-122"/>
                          <a:cs typeface="Arial" pitchFamily="34" charset="-120"/>
                        </a:rPr>
                        <a:t>16px / 400</a:t>
                      </a:r>
                      <a:endParaRPr lang="en-US" sz="9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84048">
                <a:tc>
                  <a:txBody>
                    <a:bodyPr/>
                    <a:lstStyle/>
                    <a:p>
                      <a:pPr indent="0" marL="0">
                        <a:buNone/>
                      </a:pPr>
                      <a:r>
                        <a:rPr lang="en-US" sz="950" dirty="0">
                          <a:solidFill>
                            <a:srgbClr val="1A2A3A"/>
                          </a:solidFill>
                          <a:latin typeface="Arial" pitchFamily="34" charset="0"/>
                          <a:ea typeface="Arial" pitchFamily="34" charset="-122"/>
                          <a:cs typeface="Arial" pitchFamily="34" charset="-120"/>
                        </a:rPr>
                        <a:t>Small Text</a:t>
                      </a:r>
                      <a:endParaRPr lang="en-US" sz="9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1A2A3A"/>
                          </a:solidFill>
                          <a:latin typeface="Arial" pitchFamily="34" charset="0"/>
                          <a:ea typeface="Arial" pitchFamily="34" charset="-122"/>
                          <a:cs typeface="Arial" pitchFamily="34" charset="-120"/>
                        </a:rPr>
                        <a:t>14px / 400</a:t>
                      </a:r>
                      <a:endParaRPr lang="en-US" sz="9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16" name="Text 13"/>
          <p:cNvSpPr/>
          <p:nvPr/>
        </p:nvSpPr>
        <p:spPr>
          <a:xfrm>
            <a:off x="548640" y="4617720"/>
            <a:ext cx="2743200" cy="274320"/>
          </a:xfrm>
          <a:prstGeom prst="rect">
            <a:avLst/>
          </a:prstGeom>
          <a:noFill/>
          <a:ln/>
        </p:spPr>
        <p:txBody>
          <a:bodyPr wrap="square" rtlCol="0" anchor="ctr"/>
          <a:lstStyle/>
          <a:p>
            <a:pPr indent="0" marL="0">
              <a:buNone/>
            </a:pPr>
            <a:r>
              <a:rPr lang="en-US" sz="1100" b="1" spc="100" kern="0" dirty="0">
                <a:solidFill>
                  <a:srgbClr val="0B8C3F"/>
                </a:solidFill>
                <a:latin typeface="Arial" pitchFamily="34" charset="0"/>
                <a:ea typeface="Arial" pitchFamily="34" charset="-122"/>
                <a:cs typeface="Arial" pitchFamily="34" charset="-120"/>
              </a:rPr>
              <a:t>PRINT SIZES</a:t>
            </a:r>
            <a:endParaRPr lang="en-US" sz="11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548640" y="4919472"/>
          <a:ext cx="11109960" cy="1280160"/>
        </p:xfrm>
        <a:graphic>
          <a:graphicData uri="http://schemas.openxmlformats.org/drawingml/2006/table">
            <a:tbl>
              <a:tblPr/>
              <a:tblGrid>
                <a:gridCol w="4434840"/>
                <a:gridCol w="3337560"/>
                <a:gridCol w="3337560"/>
              </a:tblGrid>
              <a:tr h="237744">
                <a:tc>
                  <a:txBody>
                    <a:bodyPr/>
                    <a:lstStyle/>
                    <a:p>
                      <a:pPr indent="0" marL="0">
                        <a:buNone/>
                      </a:pPr>
                      <a:r>
                        <a:rPr lang="en-US" sz="1100" b="1" dirty="0">
                          <a:solidFill>
                            <a:srgbClr val="FFFFFF"/>
                          </a:solidFill>
                          <a:latin typeface="Arial" pitchFamily="34" charset="0"/>
                          <a:ea typeface="Arial" pitchFamily="34" charset="-122"/>
                          <a:cs typeface="Arial" pitchFamily="34" charset="-120"/>
                        </a:rPr>
                        <a:t>Element</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66B2E"/>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Size</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66B2E"/>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Weight</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66B2E"/>
                    </a:solidFill>
                  </a:tcPr>
                </a:tc>
              </a:tr>
              <a:tr h="237744">
                <a:tc>
                  <a:txBody>
                    <a:bodyPr/>
                    <a:lstStyle/>
                    <a:p>
                      <a:pPr indent="0" marL="0">
                        <a:buNone/>
                      </a:pPr>
                      <a:r>
                        <a:rPr lang="en-US" sz="1100" dirty="0">
                          <a:solidFill>
                            <a:srgbClr val="1A2A3A"/>
                          </a:solidFill>
                          <a:latin typeface="Arial" pitchFamily="34" charset="0"/>
                          <a:ea typeface="Arial" pitchFamily="34" charset="-122"/>
                          <a:cs typeface="Arial" pitchFamily="34" charset="-120"/>
                        </a:rPr>
                        <a:t>Headlines</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2A3A"/>
                          </a:solidFill>
                          <a:latin typeface="Arial" pitchFamily="34" charset="0"/>
                          <a:ea typeface="Arial" pitchFamily="34" charset="-122"/>
                          <a:cs typeface="Arial" pitchFamily="34" charset="-120"/>
                        </a:rPr>
                        <a:t>24–36pt</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2A3A"/>
                          </a:solidFill>
                          <a:latin typeface="Arial" pitchFamily="34" charset="0"/>
                          <a:ea typeface="Arial" pitchFamily="34" charset="-122"/>
                          <a:cs typeface="Arial" pitchFamily="34" charset="-120"/>
                        </a:rPr>
                        <a:t>800</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237744">
                <a:tc>
                  <a:txBody>
                    <a:bodyPr/>
                    <a:lstStyle/>
                    <a:p>
                      <a:pPr indent="0" marL="0">
                        <a:buNone/>
                      </a:pPr>
                      <a:r>
                        <a:rPr lang="en-US" sz="1100" dirty="0">
                          <a:solidFill>
                            <a:srgbClr val="1A2A3A"/>
                          </a:solidFill>
                          <a:latin typeface="Arial" pitchFamily="34" charset="0"/>
                          <a:ea typeface="Arial" pitchFamily="34" charset="-122"/>
                          <a:cs typeface="Arial" pitchFamily="34" charset="-120"/>
                        </a:rPr>
                        <a:t>Subheadings</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2A3A"/>
                          </a:solidFill>
                          <a:latin typeface="Arial" pitchFamily="34" charset="0"/>
                          <a:ea typeface="Arial" pitchFamily="34" charset="-122"/>
                          <a:cs typeface="Arial" pitchFamily="34" charset="-120"/>
                        </a:rPr>
                        <a:t>16–20pt</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2A3A"/>
                          </a:solidFill>
                          <a:latin typeface="Arial" pitchFamily="34" charset="0"/>
                          <a:ea typeface="Arial" pitchFamily="34" charset="-122"/>
                          <a:cs typeface="Arial" pitchFamily="34" charset="-120"/>
                        </a:rPr>
                        <a:t>700</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237744">
                <a:tc>
                  <a:txBody>
                    <a:bodyPr/>
                    <a:lstStyle/>
                    <a:p>
                      <a:pPr indent="0" marL="0">
                        <a:buNone/>
                      </a:pPr>
                      <a:r>
                        <a:rPr lang="en-US" sz="1100" dirty="0">
                          <a:solidFill>
                            <a:srgbClr val="1A2A3A"/>
                          </a:solidFill>
                          <a:latin typeface="Arial" pitchFamily="34" charset="0"/>
                          <a:ea typeface="Arial" pitchFamily="34" charset="-122"/>
                          <a:cs typeface="Arial" pitchFamily="34" charset="-120"/>
                        </a:rPr>
                        <a:t>Body</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2A3A"/>
                          </a:solidFill>
                          <a:latin typeface="Arial" pitchFamily="34" charset="0"/>
                          <a:ea typeface="Arial" pitchFamily="34" charset="-122"/>
                          <a:cs typeface="Arial" pitchFamily="34" charset="-120"/>
                        </a:rPr>
                        <a:t>11–12pt</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2A3A"/>
                          </a:solidFill>
                          <a:latin typeface="Arial" pitchFamily="34" charset="0"/>
                          <a:ea typeface="Arial" pitchFamily="34" charset="-122"/>
                          <a:cs typeface="Arial" pitchFamily="34" charset="-120"/>
                        </a:rPr>
                        <a:t>400</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237744">
                <a:tc>
                  <a:txBody>
                    <a:bodyPr/>
                    <a:lstStyle/>
                    <a:p>
                      <a:pPr indent="0" marL="0">
                        <a:buNone/>
                      </a:pPr>
                      <a:r>
                        <a:rPr lang="en-US" sz="1100" dirty="0">
                          <a:solidFill>
                            <a:srgbClr val="1A2A3A"/>
                          </a:solidFill>
                          <a:latin typeface="Arial" pitchFamily="34" charset="0"/>
                          <a:ea typeface="Arial" pitchFamily="34" charset="-122"/>
                          <a:cs typeface="Arial" pitchFamily="34" charset="-120"/>
                        </a:rPr>
                        <a:t>Small Print</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2A3A"/>
                          </a:solidFill>
                          <a:latin typeface="Arial" pitchFamily="34" charset="0"/>
                          <a:ea typeface="Arial" pitchFamily="34" charset="-122"/>
                          <a:cs typeface="Arial" pitchFamily="34" charset="-120"/>
                        </a:rPr>
                        <a:t>8–9pt</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2A3A"/>
                          </a:solidFill>
                          <a:latin typeface="Arial" pitchFamily="34" charset="0"/>
                          <a:ea typeface="Arial" pitchFamily="34" charset="-122"/>
                          <a:cs typeface="Arial" pitchFamily="34" charset="-120"/>
                        </a:rPr>
                        <a:t>400</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18" name="Shape 14"/>
          <p:cNvSpPr/>
          <p:nvPr/>
        </p:nvSpPr>
        <p:spPr>
          <a:xfrm>
            <a:off x="457200" y="6400800"/>
            <a:ext cx="292608" cy="292608"/>
          </a:xfrm>
          <a:prstGeom prst="roundRect">
            <a:avLst>
              <a:gd name="adj" fmla="val 16000"/>
            </a:avLst>
          </a:prstGeom>
          <a:solidFill>
            <a:srgbClr val="FFFFFF"/>
          </a:solidFill>
          <a:ln w="12700">
            <a:solidFill>
              <a:srgbClr val="E2E8F0"/>
            </a:solidFill>
            <a:prstDash val="solid"/>
          </a:ln>
        </p:spPr>
      </p:sp>
      <p:pic>
        <p:nvPicPr>
          <p:cNvPr id="19" name="Image 0" descr="/home/claude/ekhaya/logo_icon_square.png">    </p:cNvPr>
          <p:cNvPicPr>
            <a:picLocks noChangeAspect="1"/>
          </p:cNvPicPr>
          <p:nvPr/>
        </p:nvPicPr>
        <p:blipFill>
          <a:blip r:embed="rId1"/>
          <a:stretch>
            <a:fillRect/>
          </a:stretch>
        </p:blipFill>
        <p:spPr>
          <a:xfrm>
            <a:off x="483535" y="6427135"/>
            <a:ext cx="239939" cy="239939"/>
          </a:xfrm>
          <a:prstGeom prst="rect">
            <a:avLst/>
          </a:prstGeom>
        </p:spPr>
      </p:pic>
      <p:sp>
        <p:nvSpPr>
          <p:cNvPr id="20" name="Text 15"/>
          <p:cNvSpPr/>
          <p:nvPr/>
        </p:nvSpPr>
        <p:spPr>
          <a:xfrm>
            <a:off x="841248" y="6419088"/>
            <a:ext cx="4572000" cy="292608"/>
          </a:xfrm>
          <a:prstGeom prst="rect">
            <a:avLst/>
          </a:prstGeom>
          <a:noFill/>
          <a:ln/>
        </p:spPr>
        <p:txBody>
          <a:bodyPr wrap="square" rtlCol="0" anchor="ctr"/>
          <a:lstStyle/>
          <a:p>
            <a:pPr indent="0" marL="0">
              <a:buNone/>
            </a:pPr>
            <a:r>
              <a:rPr lang="en-US" sz="900" dirty="0">
                <a:solidFill>
                  <a:srgbClr val="6C7A8A"/>
                </a:solidFill>
                <a:latin typeface="Arial" pitchFamily="34" charset="0"/>
                <a:ea typeface="Arial" pitchFamily="34" charset="-122"/>
                <a:cs typeface="Arial" pitchFamily="34" charset="-120"/>
              </a:rPr>
              <a:t>eKhaya Connect · Brand Guide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0B8C3F"/>
                </a:solidFill>
                <a:latin typeface="Arial" pitchFamily="34" charset="0"/>
                <a:ea typeface="Arial" pitchFamily="34" charset="-122"/>
                <a:cs typeface="Arial" pitchFamily="34" charset="-120"/>
              </a:rPr>
              <a:t>VOICE &amp; MESSAGING</a:t>
            </a:r>
            <a:endParaRPr lang="en-US" sz="1300" dirty="0"/>
          </a:p>
        </p:txBody>
      </p:sp>
      <p:sp>
        <p:nvSpPr>
          <p:cNvPr id="3" name="Text 1"/>
          <p:cNvSpPr/>
          <p:nvPr/>
        </p:nvSpPr>
        <p:spPr>
          <a:xfrm>
            <a:off x="548640" y="658368"/>
            <a:ext cx="10789920" cy="658368"/>
          </a:xfrm>
          <a:prstGeom prst="rect">
            <a:avLst/>
          </a:prstGeom>
          <a:noFill/>
          <a:ln/>
        </p:spPr>
        <p:txBody>
          <a:bodyPr wrap="square" rtlCol="0" anchor="ctr"/>
          <a:lstStyle/>
          <a:p>
            <a:pPr indent="0" marL="0">
              <a:buNone/>
            </a:pPr>
            <a:r>
              <a:rPr lang="en-US" sz="3000" b="1" dirty="0">
                <a:solidFill>
                  <a:srgbClr val="1A2A3A"/>
                </a:solidFill>
                <a:latin typeface="Arial" pitchFamily="34" charset="0"/>
                <a:ea typeface="Arial" pitchFamily="34" charset="-122"/>
                <a:cs typeface="Arial" pitchFamily="34" charset="-120"/>
              </a:rPr>
              <a:t>Tone of Voice</a:t>
            </a:r>
            <a:endParaRPr lang="en-US" sz="3000" dirty="0"/>
          </a:p>
        </p:txBody>
      </p:sp>
      <p:sp>
        <p:nvSpPr>
          <p:cNvPr id="4" name="Shape 2"/>
          <p:cNvSpPr/>
          <p:nvPr/>
        </p:nvSpPr>
        <p:spPr>
          <a:xfrm>
            <a:off x="548640" y="1554480"/>
            <a:ext cx="5349240" cy="2148840"/>
          </a:xfrm>
          <a:prstGeom prst="roundRect">
            <a:avLst>
              <a:gd name="adj" fmla="val 3404"/>
            </a:avLst>
          </a:prstGeom>
          <a:solidFill>
            <a:srgbClr val="FFFFFF"/>
          </a:solidFill>
          <a:ln w="12700">
            <a:solidFill>
              <a:srgbClr val="E2E8F0"/>
            </a:solidFill>
            <a:prstDash val="solid"/>
          </a:ln>
          <a:effectLst>
            <a:outerShdw sx="100000" sy="100000" kx="0" ky="0" algn="bl" rotWithShape="0" blurRad="76200" dist="25400" dir="5400000">
              <a:srgbClr val="1A2A3A">
                <a:alpha val="9000"/>
              </a:srgbClr>
            </a:outerShdw>
          </a:effectLst>
        </p:spPr>
      </p:sp>
      <p:sp>
        <p:nvSpPr>
          <p:cNvPr id="5" name="Shape 3"/>
          <p:cNvSpPr/>
          <p:nvPr/>
        </p:nvSpPr>
        <p:spPr>
          <a:xfrm>
            <a:off x="804672" y="1792224"/>
            <a:ext cx="1371600" cy="365760"/>
          </a:xfrm>
          <a:prstGeom prst="roundRect">
            <a:avLst>
              <a:gd name="adj" fmla="val 50000"/>
            </a:avLst>
          </a:prstGeom>
          <a:solidFill>
            <a:srgbClr val="0B8C3F"/>
          </a:solidFill>
          <a:ln/>
        </p:spPr>
      </p:sp>
      <p:sp>
        <p:nvSpPr>
          <p:cNvPr id="6" name="Text 4"/>
          <p:cNvSpPr/>
          <p:nvPr/>
        </p:nvSpPr>
        <p:spPr>
          <a:xfrm>
            <a:off x="804672" y="1792224"/>
            <a:ext cx="1371600" cy="36576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WARM</a:t>
            </a:r>
            <a:endParaRPr lang="en-US" sz="1100" dirty="0"/>
          </a:p>
        </p:txBody>
      </p:sp>
      <p:sp>
        <p:nvSpPr>
          <p:cNvPr id="7" name="Text 5"/>
          <p:cNvSpPr/>
          <p:nvPr/>
        </p:nvSpPr>
        <p:spPr>
          <a:xfrm>
            <a:off x="804672" y="2286000"/>
            <a:ext cx="4837176" cy="457200"/>
          </a:xfrm>
          <a:prstGeom prst="rect">
            <a:avLst/>
          </a:prstGeom>
          <a:noFill/>
          <a:ln/>
        </p:spPr>
        <p:txBody>
          <a:bodyPr wrap="square" rtlCol="0" anchor="t"/>
          <a:lstStyle/>
          <a:p>
            <a:pPr indent="0" marL="0">
              <a:buNone/>
            </a:pPr>
            <a:r>
              <a:rPr lang="en-US" sz="1200" dirty="0">
                <a:solidFill>
                  <a:srgbClr val="6C7A8A"/>
                </a:solidFill>
                <a:latin typeface="Arial" pitchFamily="34" charset="0"/>
                <a:ea typeface="Arial" pitchFamily="34" charset="-122"/>
                <a:cs typeface="Arial" pitchFamily="34" charset="-120"/>
              </a:rPr>
              <a:t>We speak like neighbours, not corporations.</a:t>
            </a:r>
            <a:endParaRPr lang="en-US" sz="1200" dirty="0"/>
          </a:p>
        </p:txBody>
      </p:sp>
      <p:sp>
        <p:nvSpPr>
          <p:cNvPr id="8" name="Text 6"/>
          <p:cNvSpPr/>
          <p:nvPr/>
        </p:nvSpPr>
        <p:spPr>
          <a:xfrm>
            <a:off x="804672" y="2834640"/>
            <a:ext cx="4837176" cy="731520"/>
          </a:xfrm>
          <a:prstGeom prst="rect">
            <a:avLst/>
          </a:prstGeom>
          <a:noFill/>
          <a:ln/>
        </p:spPr>
        <p:txBody>
          <a:bodyPr wrap="square" rtlCol="0" anchor="t"/>
          <a:lstStyle/>
          <a:p>
            <a:pPr indent="0" marL="0">
              <a:lnSpc>
                <a:spcPct val="115000"/>
              </a:lnSpc>
              <a:buNone/>
            </a:pPr>
            <a:r>
              <a:rPr lang="en-US" sz="1200" i="1" dirty="0">
                <a:solidFill>
                  <a:srgbClr val="1A2A3A"/>
                </a:solidFill>
                <a:latin typeface="Arial" pitchFamily="34" charset="0"/>
                <a:ea typeface="Arial" pitchFamily="34" charset="-122"/>
                <a:cs typeface="Arial" pitchFamily="34" charset="-120"/>
              </a:rPr>
              <a:t>“Sisi/bhuti, we're starting something for our community.”</a:t>
            </a:r>
            <a:endParaRPr lang="en-US" sz="1200" dirty="0"/>
          </a:p>
        </p:txBody>
      </p:sp>
      <p:sp>
        <p:nvSpPr>
          <p:cNvPr id="9" name="Shape 7"/>
          <p:cNvSpPr/>
          <p:nvPr/>
        </p:nvSpPr>
        <p:spPr>
          <a:xfrm>
            <a:off x="6263640" y="1554480"/>
            <a:ext cx="5349240" cy="2148840"/>
          </a:xfrm>
          <a:prstGeom prst="roundRect">
            <a:avLst>
              <a:gd name="adj" fmla="val 3404"/>
            </a:avLst>
          </a:prstGeom>
          <a:solidFill>
            <a:srgbClr val="FFFFFF"/>
          </a:solidFill>
          <a:ln w="12700">
            <a:solidFill>
              <a:srgbClr val="E2E8F0"/>
            </a:solidFill>
            <a:prstDash val="solid"/>
          </a:ln>
          <a:effectLst>
            <a:outerShdw sx="100000" sy="100000" kx="0" ky="0" algn="bl" rotWithShape="0" blurRad="76200" dist="25400" dir="5400000">
              <a:srgbClr val="1A2A3A">
                <a:alpha val="9000"/>
              </a:srgbClr>
            </a:outerShdw>
          </a:effectLst>
        </p:spPr>
      </p:sp>
      <p:sp>
        <p:nvSpPr>
          <p:cNvPr id="10" name="Shape 8"/>
          <p:cNvSpPr/>
          <p:nvPr/>
        </p:nvSpPr>
        <p:spPr>
          <a:xfrm>
            <a:off x="6519672" y="1792224"/>
            <a:ext cx="1371600" cy="365760"/>
          </a:xfrm>
          <a:prstGeom prst="roundRect">
            <a:avLst>
              <a:gd name="adj" fmla="val 50000"/>
            </a:avLst>
          </a:prstGeom>
          <a:solidFill>
            <a:srgbClr val="F5B342"/>
          </a:solidFill>
          <a:ln/>
        </p:spPr>
      </p:sp>
      <p:sp>
        <p:nvSpPr>
          <p:cNvPr id="11" name="Text 9"/>
          <p:cNvSpPr/>
          <p:nvPr/>
        </p:nvSpPr>
        <p:spPr>
          <a:xfrm>
            <a:off x="6519672" y="1792224"/>
            <a:ext cx="1371600" cy="365760"/>
          </a:xfrm>
          <a:prstGeom prst="rect">
            <a:avLst/>
          </a:prstGeom>
          <a:noFill/>
          <a:ln/>
        </p:spPr>
        <p:txBody>
          <a:bodyPr wrap="square" rtlCol="0" anchor="ctr"/>
          <a:lstStyle/>
          <a:p>
            <a:pPr algn="ctr" indent="0" marL="0">
              <a:buNone/>
            </a:pPr>
            <a:r>
              <a:rPr lang="en-US" sz="1100" b="1" dirty="0">
                <a:solidFill>
                  <a:srgbClr val="1A2A3A"/>
                </a:solidFill>
                <a:latin typeface="Arial" pitchFamily="34" charset="0"/>
                <a:ea typeface="Arial" pitchFamily="34" charset="-122"/>
                <a:cs typeface="Arial" pitchFamily="34" charset="-120"/>
              </a:rPr>
              <a:t>CLEAR</a:t>
            </a:r>
            <a:endParaRPr lang="en-US" sz="1100" dirty="0"/>
          </a:p>
        </p:txBody>
      </p:sp>
      <p:sp>
        <p:nvSpPr>
          <p:cNvPr id="12" name="Text 10"/>
          <p:cNvSpPr/>
          <p:nvPr/>
        </p:nvSpPr>
        <p:spPr>
          <a:xfrm>
            <a:off x="6519672" y="2286000"/>
            <a:ext cx="4837176" cy="457200"/>
          </a:xfrm>
          <a:prstGeom prst="rect">
            <a:avLst/>
          </a:prstGeom>
          <a:noFill/>
          <a:ln/>
        </p:spPr>
        <p:txBody>
          <a:bodyPr wrap="square" rtlCol="0" anchor="t"/>
          <a:lstStyle/>
          <a:p>
            <a:pPr indent="0" marL="0">
              <a:buNone/>
            </a:pPr>
            <a:r>
              <a:rPr lang="en-US" sz="1200" dirty="0">
                <a:solidFill>
                  <a:srgbClr val="6C7A8A"/>
                </a:solidFill>
                <a:latin typeface="Arial" pitchFamily="34" charset="0"/>
                <a:ea typeface="Arial" pitchFamily="34" charset="-122"/>
                <a:cs typeface="Arial" pitchFamily="34" charset="-120"/>
              </a:rPr>
              <a:t>No jargon, no fine print.</a:t>
            </a:r>
            <a:endParaRPr lang="en-US" sz="1200" dirty="0"/>
          </a:p>
        </p:txBody>
      </p:sp>
      <p:sp>
        <p:nvSpPr>
          <p:cNvPr id="13" name="Text 11"/>
          <p:cNvSpPr/>
          <p:nvPr/>
        </p:nvSpPr>
        <p:spPr>
          <a:xfrm>
            <a:off x="6519672" y="2834640"/>
            <a:ext cx="4837176" cy="731520"/>
          </a:xfrm>
          <a:prstGeom prst="rect">
            <a:avLst/>
          </a:prstGeom>
          <a:noFill/>
          <a:ln/>
        </p:spPr>
        <p:txBody>
          <a:bodyPr wrap="square" rtlCol="0" anchor="t"/>
          <a:lstStyle/>
          <a:p>
            <a:pPr indent="0" marL="0">
              <a:lnSpc>
                <a:spcPct val="115000"/>
              </a:lnSpc>
              <a:buNone/>
            </a:pPr>
            <a:r>
              <a:rPr lang="en-US" sz="1200" i="1" dirty="0">
                <a:solidFill>
                  <a:srgbClr val="1A2A3A"/>
                </a:solidFill>
                <a:latin typeface="Arial" pitchFamily="34" charset="0"/>
                <a:ea typeface="Arial" pitchFamily="34" charset="-122"/>
                <a:cs typeface="Arial" pitchFamily="34" charset="-120"/>
              </a:rPr>
              <a:t>“R399/month. 10 Mbps. Truly unlimited.”</a:t>
            </a:r>
            <a:endParaRPr lang="en-US" sz="1200" dirty="0"/>
          </a:p>
        </p:txBody>
      </p:sp>
      <p:sp>
        <p:nvSpPr>
          <p:cNvPr id="14" name="Shape 12"/>
          <p:cNvSpPr/>
          <p:nvPr/>
        </p:nvSpPr>
        <p:spPr>
          <a:xfrm>
            <a:off x="548640" y="3977640"/>
            <a:ext cx="5349240" cy="2148840"/>
          </a:xfrm>
          <a:prstGeom prst="roundRect">
            <a:avLst>
              <a:gd name="adj" fmla="val 3404"/>
            </a:avLst>
          </a:prstGeom>
          <a:solidFill>
            <a:srgbClr val="FFFFFF"/>
          </a:solidFill>
          <a:ln w="12700">
            <a:solidFill>
              <a:srgbClr val="E2E8F0"/>
            </a:solidFill>
            <a:prstDash val="solid"/>
          </a:ln>
          <a:effectLst>
            <a:outerShdw sx="100000" sy="100000" kx="0" ky="0" algn="bl" rotWithShape="0" blurRad="76200" dist="25400" dir="5400000">
              <a:srgbClr val="1A2A3A">
                <a:alpha val="9000"/>
              </a:srgbClr>
            </a:outerShdw>
          </a:effectLst>
        </p:spPr>
      </p:sp>
      <p:sp>
        <p:nvSpPr>
          <p:cNvPr id="15" name="Shape 13"/>
          <p:cNvSpPr/>
          <p:nvPr/>
        </p:nvSpPr>
        <p:spPr>
          <a:xfrm>
            <a:off x="804672" y="4215384"/>
            <a:ext cx="1371600" cy="365760"/>
          </a:xfrm>
          <a:prstGeom prst="roundRect">
            <a:avLst>
              <a:gd name="adj" fmla="val 50000"/>
            </a:avLst>
          </a:prstGeom>
          <a:solidFill>
            <a:srgbClr val="0B8C3F"/>
          </a:solidFill>
          <a:ln/>
        </p:spPr>
      </p:sp>
      <p:sp>
        <p:nvSpPr>
          <p:cNvPr id="16" name="Text 14"/>
          <p:cNvSpPr/>
          <p:nvPr/>
        </p:nvSpPr>
        <p:spPr>
          <a:xfrm>
            <a:off x="804672" y="4215384"/>
            <a:ext cx="1371600" cy="36576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CONFIDENT</a:t>
            </a:r>
            <a:endParaRPr lang="en-US" sz="1100" dirty="0"/>
          </a:p>
        </p:txBody>
      </p:sp>
      <p:sp>
        <p:nvSpPr>
          <p:cNvPr id="17" name="Text 15"/>
          <p:cNvSpPr/>
          <p:nvPr/>
        </p:nvSpPr>
        <p:spPr>
          <a:xfrm>
            <a:off x="804672" y="4709160"/>
            <a:ext cx="4837176" cy="457200"/>
          </a:xfrm>
          <a:prstGeom prst="rect">
            <a:avLst/>
          </a:prstGeom>
          <a:noFill/>
          <a:ln/>
        </p:spPr>
        <p:txBody>
          <a:bodyPr wrap="square" rtlCol="0" anchor="t"/>
          <a:lstStyle/>
          <a:p>
            <a:pPr indent="0" marL="0">
              <a:buNone/>
            </a:pPr>
            <a:r>
              <a:rPr lang="en-US" sz="1200" dirty="0">
                <a:solidFill>
                  <a:srgbClr val="6C7A8A"/>
                </a:solidFill>
                <a:latin typeface="Arial" pitchFamily="34" charset="0"/>
                <a:ea typeface="Arial" pitchFamily="34" charset="-122"/>
                <a:cs typeface="Arial" pitchFamily="34" charset="-120"/>
              </a:rPr>
              <a:t>We know our value.</a:t>
            </a:r>
            <a:endParaRPr lang="en-US" sz="1200" dirty="0"/>
          </a:p>
        </p:txBody>
      </p:sp>
      <p:sp>
        <p:nvSpPr>
          <p:cNvPr id="18" name="Text 16"/>
          <p:cNvSpPr/>
          <p:nvPr/>
        </p:nvSpPr>
        <p:spPr>
          <a:xfrm>
            <a:off x="804672" y="5257800"/>
            <a:ext cx="4837176" cy="731520"/>
          </a:xfrm>
          <a:prstGeom prst="rect">
            <a:avLst/>
          </a:prstGeom>
          <a:noFill/>
          <a:ln/>
        </p:spPr>
        <p:txBody>
          <a:bodyPr wrap="square" rtlCol="0" anchor="t"/>
          <a:lstStyle/>
          <a:p>
            <a:pPr indent="0" marL="0">
              <a:lnSpc>
                <a:spcPct val="115000"/>
              </a:lnSpc>
              <a:buNone/>
            </a:pPr>
            <a:r>
              <a:rPr lang="en-US" sz="1200" i="1" dirty="0">
                <a:solidFill>
                  <a:srgbClr val="1A2A3A"/>
                </a:solidFill>
                <a:latin typeface="Arial" pitchFamily="34" charset="0"/>
                <a:ea typeface="Arial" pitchFamily="34" charset="-122"/>
                <a:cs typeface="Arial" pitchFamily="34" charset="-120"/>
              </a:rPr>
              <a:t>“Internet for the price of your DStv.”</a:t>
            </a:r>
            <a:endParaRPr lang="en-US" sz="1200" dirty="0"/>
          </a:p>
        </p:txBody>
      </p:sp>
      <p:sp>
        <p:nvSpPr>
          <p:cNvPr id="19" name="Shape 17"/>
          <p:cNvSpPr/>
          <p:nvPr/>
        </p:nvSpPr>
        <p:spPr>
          <a:xfrm>
            <a:off x="6263640" y="3977640"/>
            <a:ext cx="5349240" cy="2148840"/>
          </a:xfrm>
          <a:prstGeom prst="roundRect">
            <a:avLst>
              <a:gd name="adj" fmla="val 3404"/>
            </a:avLst>
          </a:prstGeom>
          <a:solidFill>
            <a:srgbClr val="FFFFFF"/>
          </a:solidFill>
          <a:ln w="12700">
            <a:solidFill>
              <a:srgbClr val="E2E8F0"/>
            </a:solidFill>
            <a:prstDash val="solid"/>
          </a:ln>
          <a:effectLst>
            <a:outerShdw sx="100000" sy="100000" kx="0" ky="0" algn="bl" rotWithShape="0" blurRad="76200" dist="25400" dir="5400000">
              <a:srgbClr val="1A2A3A">
                <a:alpha val="9000"/>
              </a:srgbClr>
            </a:outerShdw>
          </a:effectLst>
        </p:spPr>
      </p:sp>
      <p:sp>
        <p:nvSpPr>
          <p:cNvPr id="20" name="Shape 18"/>
          <p:cNvSpPr/>
          <p:nvPr/>
        </p:nvSpPr>
        <p:spPr>
          <a:xfrm>
            <a:off x="6519672" y="4215384"/>
            <a:ext cx="1371600" cy="365760"/>
          </a:xfrm>
          <a:prstGeom prst="roundRect">
            <a:avLst>
              <a:gd name="adj" fmla="val 50000"/>
            </a:avLst>
          </a:prstGeom>
          <a:solidFill>
            <a:srgbClr val="F5B342"/>
          </a:solidFill>
          <a:ln/>
        </p:spPr>
      </p:sp>
      <p:sp>
        <p:nvSpPr>
          <p:cNvPr id="21" name="Text 19"/>
          <p:cNvSpPr/>
          <p:nvPr/>
        </p:nvSpPr>
        <p:spPr>
          <a:xfrm>
            <a:off x="6519672" y="4215384"/>
            <a:ext cx="1371600" cy="365760"/>
          </a:xfrm>
          <a:prstGeom prst="rect">
            <a:avLst/>
          </a:prstGeom>
          <a:noFill/>
          <a:ln/>
        </p:spPr>
        <p:txBody>
          <a:bodyPr wrap="square" rtlCol="0" anchor="ctr"/>
          <a:lstStyle/>
          <a:p>
            <a:pPr algn="ctr" indent="0" marL="0">
              <a:buNone/>
            </a:pPr>
            <a:r>
              <a:rPr lang="en-US" sz="1100" b="1" dirty="0">
                <a:solidFill>
                  <a:srgbClr val="1A2A3A"/>
                </a:solidFill>
                <a:latin typeface="Arial" pitchFamily="34" charset="0"/>
                <a:ea typeface="Arial" pitchFamily="34" charset="-122"/>
                <a:cs typeface="Arial" pitchFamily="34" charset="-120"/>
              </a:rPr>
              <a:t>EMPOWERING</a:t>
            </a:r>
            <a:endParaRPr lang="en-US" sz="1100" dirty="0"/>
          </a:p>
        </p:txBody>
      </p:sp>
      <p:sp>
        <p:nvSpPr>
          <p:cNvPr id="22" name="Text 20"/>
          <p:cNvSpPr/>
          <p:nvPr/>
        </p:nvSpPr>
        <p:spPr>
          <a:xfrm>
            <a:off x="6519672" y="4709160"/>
            <a:ext cx="4837176" cy="457200"/>
          </a:xfrm>
          <a:prstGeom prst="rect">
            <a:avLst/>
          </a:prstGeom>
          <a:noFill/>
          <a:ln/>
        </p:spPr>
        <p:txBody>
          <a:bodyPr wrap="square" rtlCol="0" anchor="t"/>
          <a:lstStyle/>
          <a:p>
            <a:pPr indent="0" marL="0">
              <a:buNone/>
            </a:pPr>
            <a:r>
              <a:rPr lang="en-US" sz="1200" dirty="0">
                <a:solidFill>
                  <a:srgbClr val="6C7A8A"/>
                </a:solidFill>
                <a:latin typeface="Arial" pitchFamily="34" charset="0"/>
                <a:ea typeface="Arial" pitchFamily="34" charset="-122"/>
                <a:cs typeface="Arial" pitchFamily="34" charset="-120"/>
              </a:rPr>
              <a:t>We focus on what internet enables.</a:t>
            </a:r>
            <a:endParaRPr lang="en-US" sz="1200" dirty="0"/>
          </a:p>
        </p:txBody>
      </p:sp>
      <p:sp>
        <p:nvSpPr>
          <p:cNvPr id="23" name="Text 21"/>
          <p:cNvSpPr/>
          <p:nvPr/>
        </p:nvSpPr>
        <p:spPr>
          <a:xfrm>
            <a:off x="6519672" y="5257800"/>
            <a:ext cx="4837176" cy="731520"/>
          </a:xfrm>
          <a:prstGeom prst="rect">
            <a:avLst/>
          </a:prstGeom>
          <a:noFill/>
          <a:ln/>
        </p:spPr>
        <p:txBody>
          <a:bodyPr wrap="square" rtlCol="0" anchor="t"/>
          <a:lstStyle/>
          <a:p>
            <a:pPr indent="0" marL="0">
              <a:lnSpc>
                <a:spcPct val="115000"/>
              </a:lnSpc>
              <a:buNone/>
            </a:pPr>
            <a:r>
              <a:rPr lang="en-US" sz="1200" i="1" dirty="0">
                <a:solidFill>
                  <a:srgbClr val="1A2A3A"/>
                </a:solidFill>
                <a:latin typeface="Arial" pitchFamily="34" charset="0"/>
                <a:ea typeface="Arial" pitchFamily="34" charset="-122"/>
                <a:cs typeface="Arial" pitchFamily="34" charset="-120"/>
              </a:rPr>
              <a:t>“Your children can do school research. You can run your business.”</a:t>
            </a:r>
            <a:endParaRPr lang="en-US" sz="1200" dirty="0"/>
          </a:p>
        </p:txBody>
      </p:sp>
      <p:sp>
        <p:nvSpPr>
          <p:cNvPr id="24" name="Shape 22"/>
          <p:cNvSpPr/>
          <p:nvPr/>
        </p:nvSpPr>
        <p:spPr>
          <a:xfrm>
            <a:off x="457200" y="6400800"/>
            <a:ext cx="292608" cy="292608"/>
          </a:xfrm>
          <a:prstGeom prst="roundRect">
            <a:avLst>
              <a:gd name="adj" fmla="val 16000"/>
            </a:avLst>
          </a:prstGeom>
          <a:solidFill>
            <a:srgbClr val="FFFFFF"/>
          </a:solidFill>
          <a:ln w="12700">
            <a:solidFill>
              <a:srgbClr val="E2E8F0"/>
            </a:solidFill>
            <a:prstDash val="solid"/>
          </a:ln>
        </p:spPr>
      </p:sp>
      <p:pic>
        <p:nvPicPr>
          <p:cNvPr id="25" name="Image 0" descr="/home/claude/ekhaya/logo_icon_square.png">    </p:cNvPr>
          <p:cNvPicPr>
            <a:picLocks noChangeAspect="1"/>
          </p:cNvPicPr>
          <p:nvPr/>
        </p:nvPicPr>
        <p:blipFill>
          <a:blip r:embed="rId1"/>
          <a:stretch>
            <a:fillRect/>
          </a:stretch>
        </p:blipFill>
        <p:spPr>
          <a:xfrm>
            <a:off x="483535" y="6427135"/>
            <a:ext cx="239939" cy="239939"/>
          </a:xfrm>
          <a:prstGeom prst="rect">
            <a:avLst/>
          </a:prstGeom>
        </p:spPr>
      </p:pic>
      <p:sp>
        <p:nvSpPr>
          <p:cNvPr id="26" name="Text 23"/>
          <p:cNvSpPr/>
          <p:nvPr/>
        </p:nvSpPr>
        <p:spPr>
          <a:xfrm>
            <a:off x="841248" y="6419088"/>
            <a:ext cx="4572000" cy="292608"/>
          </a:xfrm>
          <a:prstGeom prst="rect">
            <a:avLst/>
          </a:prstGeom>
          <a:noFill/>
          <a:ln/>
        </p:spPr>
        <p:txBody>
          <a:bodyPr wrap="square" rtlCol="0" anchor="ctr"/>
          <a:lstStyle/>
          <a:p>
            <a:pPr indent="0" marL="0">
              <a:buNone/>
            </a:pPr>
            <a:r>
              <a:rPr lang="en-US" sz="900" dirty="0">
                <a:solidFill>
                  <a:srgbClr val="6C7A8A"/>
                </a:solidFill>
                <a:latin typeface="Arial" pitchFamily="34" charset="0"/>
                <a:ea typeface="Arial" pitchFamily="34" charset="-122"/>
                <a:cs typeface="Arial" pitchFamily="34" charset="-120"/>
              </a:rPr>
              <a:t>eKhaya Connect · Brand Guide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0B8C3F"/>
                </a:solidFill>
                <a:latin typeface="Arial" pitchFamily="34" charset="0"/>
                <a:ea typeface="Arial" pitchFamily="34" charset="-122"/>
                <a:cs typeface="Arial" pitchFamily="34" charset="-120"/>
              </a:rPr>
              <a:t>VOICE &amp; MESSAGING</a:t>
            </a:r>
            <a:endParaRPr lang="en-US" sz="1300" dirty="0"/>
          </a:p>
        </p:txBody>
      </p:sp>
      <p:sp>
        <p:nvSpPr>
          <p:cNvPr id="3" name="Text 1"/>
          <p:cNvSpPr/>
          <p:nvPr/>
        </p:nvSpPr>
        <p:spPr>
          <a:xfrm>
            <a:off x="548640" y="658368"/>
            <a:ext cx="10789920" cy="658368"/>
          </a:xfrm>
          <a:prstGeom prst="rect">
            <a:avLst/>
          </a:prstGeom>
          <a:noFill/>
          <a:ln/>
        </p:spPr>
        <p:txBody>
          <a:bodyPr wrap="square" rtlCol="0" anchor="ctr"/>
          <a:lstStyle/>
          <a:p>
            <a:pPr indent="0" marL="0">
              <a:buNone/>
            </a:pPr>
            <a:r>
              <a:rPr lang="en-US" sz="3000" b="1" dirty="0">
                <a:solidFill>
                  <a:srgbClr val="1A2A3A"/>
                </a:solidFill>
                <a:latin typeface="Arial" pitchFamily="34" charset="0"/>
                <a:ea typeface="Arial" pitchFamily="34" charset="-122"/>
                <a:cs typeface="Arial" pitchFamily="34" charset="-120"/>
              </a:rPr>
              <a:t>What to Say (and Not Say)</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109960" cy="4480560"/>
        </p:xfrm>
        <a:graphic>
          <a:graphicData uri="http://schemas.openxmlformats.org/drawingml/2006/table">
            <a:tbl>
              <a:tblPr/>
              <a:tblGrid>
                <a:gridCol w="2377440"/>
                <a:gridCol w="4572000"/>
                <a:gridCol w="4160520"/>
              </a:tblGrid>
              <a:tr h="457200">
                <a:tc>
                  <a:txBody>
                    <a:bodyPr/>
                    <a:lstStyle/>
                    <a:p>
                      <a:pPr indent="0" marL="0">
                        <a:buNone/>
                      </a:pPr>
                      <a:r>
                        <a:rPr lang="en-US" sz="1100" b="1" dirty="0">
                          <a:solidFill>
                            <a:srgbClr val="FFFFFF"/>
                          </a:solidFill>
                          <a:latin typeface="Arial" pitchFamily="34" charset="0"/>
                          <a:ea typeface="Arial" pitchFamily="34" charset="-122"/>
                          <a:cs typeface="Arial" pitchFamily="34" charset="-120"/>
                        </a:rPr>
                        <a:t>Situation</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2A3A"/>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 Say</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8C3F"/>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 Don't Say</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C0392B"/>
                    </a:solidFill>
                  </a:tcPr>
                </a:tc>
              </a:tr>
              <a:tr h="1005840">
                <a:tc>
                  <a:txBody>
                    <a:bodyPr/>
                    <a:lstStyle/>
                    <a:p>
                      <a:pPr indent="0" marL="0">
                        <a:buNone/>
                      </a:pPr>
                      <a:r>
                        <a:rPr lang="en-US" sz="1100" dirty="0">
                          <a:solidFill>
                            <a:srgbClr val="1A2A3A"/>
                          </a:solidFill>
                          <a:latin typeface="Arial" pitchFamily="34" charset="0"/>
                          <a:ea typeface="Arial" pitchFamily="34" charset="-122"/>
                          <a:cs typeface="Arial" pitchFamily="34" charset="-120"/>
                        </a:rPr>
                        <a:t>Explaining the offer</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2A3A"/>
                          </a:solidFill>
                          <a:latin typeface="Arial" pitchFamily="34" charset="0"/>
                          <a:ea typeface="Arial" pitchFamily="34" charset="-122"/>
                          <a:cs typeface="Arial" pitchFamily="34" charset="-120"/>
                        </a:rPr>
                        <a:t>“Pay R50 now to secure your spot. We deduct it from your first bill.”</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2A3A"/>
                          </a:solidFill>
                          <a:latin typeface="Arial" pitchFamily="34" charset="0"/>
                          <a:ea typeface="Arial" pitchFamily="34" charset="-122"/>
                          <a:cs typeface="Arial" pitchFamily="34" charset="-120"/>
                        </a:rPr>
                        <a:t>“Please remit a R50 deposit to secure your pre-registration.”</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1005840">
                <a:tc>
                  <a:txBody>
                    <a:bodyPr/>
                    <a:lstStyle/>
                    <a:p>
                      <a:pPr indent="0" marL="0">
                        <a:buNone/>
                      </a:pPr>
                      <a:r>
                        <a:rPr lang="en-US" sz="1100" dirty="0">
                          <a:solidFill>
                            <a:srgbClr val="1A2A3A"/>
                          </a:solidFill>
                          <a:latin typeface="Arial" pitchFamily="34" charset="0"/>
                          <a:ea typeface="Arial" pitchFamily="34" charset="-122"/>
                          <a:cs typeface="Arial" pitchFamily="34" charset="-120"/>
                        </a:rPr>
                        <a:t>Describing the service</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2A3A"/>
                          </a:solidFill>
                          <a:latin typeface="Arial" pitchFamily="34" charset="0"/>
                          <a:ea typeface="Arial" pitchFamily="34" charset="-122"/>
                          <a:cs typeface="Arial" pitchFamily="34" charset="-120"/>
                        </a:rPr>
                        <a:t>“Truly unlimited. No hidden fair-usage policies.”</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2A3A"/>
                          </a:solidFill>
                          <a:latin typeface="Arial" pitchFamily="34" charset="0"/>
                          <a:ea typeface="Arial" pitchFamily="34" charset="-122"/>
                          <a:cs typeface="Arial" pitchFamily="34" charset="-120"/>
                        </a:rPr>
                        <a:t>“Our service provides unlimited data subject to our fair usage policy.”</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1005840">
                <a:tc>
                  <a:txBody>
                    <a:bodyPr/>
                    <a:lstStyle/>
                    <a:p>
                      <a:pPr indent="0" marL="0">
                        <a:buNone/>
                      </a:pPr>
                      <a:r>
                        <a:rPr lang="en-US" sz="1100" dirty="0">
                          <a:solidFill>
                            <a:srgbClr val="1A2A3A"/>
                          </a:solidFill>
                          <a:latin typeface="Arial" pitchFamily="34" charset="0"/>
                          <a:ea typeface="Arial" pitchFamily="34" charset="-122"/>
                          <a:cs typeface="Arial" pitchFamily="34" charset="-120"/>
                        </a:rPr>
                        <a:t>Building trust</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2A3A"/>
                          </a:solidFill>
                          <a:latin typeface="Arial" pitchFamily="34" charset="0"/>
                          <a:ea typeface="Arial" pitchFamily="34" charset="-122"/>
                          <a:cs typeface="Arial" pitchFamily="34" charset="-120"/>
                        </a:rPr>
                        <a:t>“We're your neighbours, not a call centre in Johannesburg.”</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2A3A"/>
                          </a:solidFill>
                          <a:latin typeface="Arial" pitchFamily="34" charset="0"/>
                          <a:ea typeface="Arial" pitchFamily="34" charset="-122"/>
                          <a:cs typeface="Arial" pitchFamily="34" charset="-120"/>
                        </a:rPr>
                        <a:t>“We are a customer-centric organisation.”</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1005840">
                <a:tc>
                  <a:txBody>
                    <a:bodyPr/>
                    <a:lstStyle/>
                    <a:p>
                      <a:pPr indent="0" marL="0">
                        <a:buNone/>
                      </a:pPr>
                      <a:r>
                        <a:rPr lang="en-US" sz="1100" dirty="0">
                          <a:solidFill>
                            <a:srgbClr val="1A2A3A"/>
                          </a:solidFill>
                          <a:latin typeface="Arial" pitchFamily="34" charset="0"/>
                          <a:ea typeface="Arial" pitchFamily="34" charset="-122"/>
                          <a:cs typeface="Arial" pitchFamily="34" charset="-120"/>
                        </a:rPr>
                        <a:t>In isiXhosa</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2A3A"/>
                          </a:solidFill>
                          <a:latin typeface="Arial" pitchFamily="34" charset="0"/>
                          <a:ea typeface="Arial" pitchFamily="34" charset="-122"/>
                          <a:cs typeface="Arial" pitchFamily="34" charset="-120"/>
                        </a:rPr>
                        <a:t>“Sisi/bhuti, uncapped Wi-Fi, R399, same price as your DStv.”</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2A3A"/>
                          </a:solidFill>
                          <a:latin typeface="Arial" pitchFamily="34" charset="0"/>
                          <a:ea typeface="Arial" pitchFamily="34" charset="-122"/>
                          <a:cs typeface="Arial" pitchFamily="34" charset="-120"/>
                        </a:rPr>
                        <a:t>(Just speak warmly and naturally.)</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5" name="Shape 2"/>
          <p:cNvSpPr/>
          <p:nvPr/>
        </p:nvSpPr>
        <p:spPr>
          <a:xfrm>
            <a:off x="457200" y="6400800"/>
            <a:ext cx="292608" cy="292608"/>
          </a:xfrm>
          <a:prstGeom prst="roundRect">
            <a:avLst>
              <a:gd name="adj" fmla="val 16000"/>
            </a:avLst>
          </a:prstGeom>
          <a:solidFill>
            <a:srgbClr val="FFFFFF"/>
          </a:solidFill>
          <a:ln w="12700">
            <a:solidFill>
              <a:srgbClr val="E2E8F0"/>
            </a:solidFill>
            <a:prstDash val="solid"/>
          </a:ln>
        </p:spPr>
      </p:sp>
      <p:pic>
        <p:nvPicPr>
          <p:cNvPr id="6" name="Image 0" descr="/home/claude/ekhaya/logo_icon_square.png">    </p:cNvPr>
          <p:cNvPicPr>
            <a:picLocks noChangeAspect="1"/>
          </p:cNvPicPr>
          <p:nvPr/>
        </p:nvPicPr>
        <p:blipFill>
          <a:blip r:embed="rId1"/>
          <a:stretch>
            <a:fillRect/>
          </a:stretch>
        </p:blipFill>
        <p:spPr>
          <a:xfrm>
            <a:off x="483535" y="6427135"/>
            <a:ext cx="239939" cy="239939"/>
          </a:xfrm>
          <a:prstGeom prst="rect">
            <a:avLst/>
          </a:prstGeom>
        </p:spPr>
      </p:pic>
      <p:sp>
        <p:nvSpPr>
          <p:cNvPr id="7" name="Text 3"/>
          <p:cNvSpPr/>
          <p:nvPr/>
        </p:nvSpPr>
        <p:spPr>
          <a:xfrm>
            <a:off x="841248" y="6419088"/>
            <a:ext cx="4572000" cy="292608"/>
          </a:xfrm>
          <a:prstGeom prst="rect">
            <a:avLst/>
          </a:prstGeom>
          <a:noFill/>
          <a:ln/>
        </p:spPr>
        <p:txBody>
          <a:bodyPr wrap="square" rtlCol="0" anchor="ctr"/>
          <a:lstStyle/>
          <a:p>
            <a:pPr indent="0" marL="0">
              <a:buNone/>
            </a:pPr>
            <a:r>
              <a:rPr lang="en-US" sz="900" dirty="0">
                <a:solidFill>
                  <a:srgbClr val="6C7A8A"/>
                </a:solidFill>
                <a:latin typeface="Arial" pitchFamily="34" charset="0"/>
                <a:ea typeface="Arial" pitchFamily="34" charset="-122"/>
                <a:cs typeface="Arial" pitchFamily="34" charset="-120"/>
              </a:rPr>
              <a:t>eKhaya Connect · Brand Guide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0B8C3F"/>
                </a:solidFill>
                <a:latin typeface="Arial" pitchFamily="34" charset="0"/>
                <a:ea typeface="Arial" pitchFamily="34" charset="-122"/>
                <a:cs typeface="Arial" pitchFamily="34" charset="-120"/>
              </a:rPr>
              <a:t>BRAND APPLICATIONS</a:t>
            </a:r>
            <a:endParaRPr lang="en-US" sz="1300" dirty="0"/>
          </a:p>
        </p:txBody>
      </p:sp>
      <p:sp>
        <p:nvSpPr>
          <p:cNvPr id="3" name="Text 1"/>
          <p:cNvSpPr/>
          <p:nvPr/>
        </p:nvSpPr>
        <p:spPr>
          <a:xfrm>
            <a:off x="548640" y="658368"/>
            <a:ext cx="10789920" cy="658368"/>
          </a:xfrm>
          <a:prstGeom prst="rect">
            <a:avLst/>
          </a:prstGeom>
          <a:noFill/>
          <a:ln/>
        </p:spPr>
        <p:txBody>
          <a:bodyPr wrap="square" rtlCol="0" anchor="ctr"/>
          <a:lstStyle/>
          <a:p>
            <a:pPr indent="0" marL="0">
              <a:buNone/>
            </a:pPr>
            <a:r>
              <a:rPr lang="en-US" sz="3000" b="1" dirty="0">
                <a:solidFill>
                  <a:srgbClr val="1A2A3A"/>
                </a:solidFill>
                <a:latin typeface="Arial" pitchFamily="34" charset="0"/>
                <a:ea typeface="Arial" pitchFamily="34" charset="-122"/>
                <a:cs typeface="Arial" pitchFamily="34" charset="-120"/>
              </a:rPr>
              <a:t>Website &amp; Mobile App</a:t>
            </a:r>
            <a:endParaRPr lang="en-US" sz="3000" dirty="0"/>
          </a:p>
        </p:txBody>
      </p:sp>
      <p:sp>
        <p:nvSpPr>
          <p:cNvPr id="4" name="Text 2"/>
          <p:cNvSpPr/>
          <p:nvPr/>
        </p:nvSpPr>
        <p:spPr>
          <a:xfrm>
            <a:off x="548640" y="1463040"/>
            <a:ext cx="4572000" cy="274320"/>
          </a:xfrm>
          <a:prstGeom prst="rect">
            <a:avLst/>
          </a:prstGeom>
          <a:noFill/>
          <a:ln/>
        </p:spPr>
        <p:txBody>
          <a:bodyPr wrap="square" rtlCol="0" anchor="ctr"/>
          <a:lstStyle/>
          <a:p>
            <a:pPr indent="0" marL="0">
              <a:buNone/>
            </a:pPr>
            <a:r>
              <a:rPr lang="en-US" sz="1200" b="1" spc="100" kern="0" dirty="0">
                <a:solidFill>
                  <a:srgbClr val="0B8C3F"/>
                </a:solidFill>
                <a:latin typeface="Arial" pitchFamily="34" charset="0"/>
                <a:ea typeface="Arial" pitchFamily="34" charset="-122"/>
                <a:cs typeface="Arial" pitchFamily="34" charset="-120"/>
              </a:rPr>
              <a:t>WEBSITE</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5394960" cy="3291840"/>
        </p:xfrm>
        <a:graphic>
          <a:graphicData uri="http://schemas.openxmlformats.org/drawingml/2006/table">
            <a:tbl>
              <a:tblPr/>
              <a:tblGrid>
                <a:gridCol w="1554480"/>
                <a:gridCol w="3840480"/>
              </a:tblGrid>
              <a:tr h="548640">
                <a:tc>
                  <a:txBody>
                    <a:bodyPr/>
                    <a:lstStyle/>
                    <a:p>
                      <a:pPr indent="0" marL="0">
                        <a:buNone/>
                      </a:pPr>
                      <a:r>
                        <a:rPr lang="en-US" sz="1100" dirty="0">
                          <a:solidFill>
                            <a:srgbClr val="1A2A3A"/>
                          </a:solidFill>
                          <a:latin typeface="Arial" pitchFamily="34" charset="0"/>
                          <a:ea typeface="Arial" pitchFamily="34" charset="-122"/>
                          <a:cs typeface="Arial" pitchFamily="34" charset="-120"/>
                        </a:rPr>
                        <a:t>Header</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2A3A"/>
                          </a:solidFill>
                          <a:latin typeface="Arial" pitchFamily="34" charset="0"/>
                          <a:ea typeface="Arial" pitchFamily="34" charset="-122"/>
                          <a:cs typeface="Arial" pitchFamily="34" charset="-120"/>
                        </a:rPr>
                        <a:t>Green navbar with white text</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48640">
                <a:tc>
                  <a:txBody>
                    <a:bodyPr/>
                    <a:lstStyle/>
                    <a:p>
                      <a:pPr indent="0" marL="0">
                        <a:buNone/>
                      </a:pPr>
                      <a:r>
                        <a:rPr lang="en-US" sz="1100" dirty="0">
                          <a:solidFill>
                            <a:srgbClr val="1A2A3A"/>
                          </a:solidFill>
                          <a:latin typeface="Arial" pitchFamily="34" charset="0"/>
                          <a:ea typeface="Arial" pitchFamily="34" charset="-122"/>
                          <a:cs typeface="Arial" pitchFamily="34" charset="-120"/>
                        </a:rPr>
                        <a:t>Logo</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2A3A"/>
                          </a:solidFill>
                          <a:latin typeface="Arial" pitchFamily="34" charset="0"/>
                          <a:ea typeface="Arial" pitchFamily="34" charset="-122"/>
                          <a:cs typeface="Arial" pitchFamily="34" charset="-120"/>
                        </a:rPr>
                        <a:t>Logo mark + “eKhaya Connect”</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48640">
                <a:tc>
                  <a:txBody>
                    <a:bodyPr/>
                    <a:lstStyle/>
                    <a:p>
                      <a:pPr indent="0" marL="0">
                        <a:buNone/>
                      </a:pPr>
                      <a:r>
                        <a:rPr lang="en-US" sz="1100" dirty="0">
                          <a:solidFill>
                            <a:srgbClr val="1A2A3A"/>
                          </a:solidFill>
                          <a:latin typeface="Arial" pitchFamily="34" charset="0"/>
                          <a:ea typeface="Arial" pitchFamily="34" charset="-122"/>
                          <a:cs typeface="Arial" pitchFamily="34" charset="-120"/>
                        </a:rPr>
                        <a:t>Buttons</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2A3A"/>
                          </a:solidFill>
                          <a:latin typeface="Arial" pitchFamily="34" charset="0"/>
                          <a:ea typeface="Arial" pitchFamily="34" charset="-122"/>
                          <a:cs typeface="Arial" pitchFamily="34" charset="-120"/>
                        </a:rPr>
                        <a:t>Green primary, Gold for “Most Popular”</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48640">
                <a:tc>
                  <a:txBody>
                    <a:bodyPr/>
                    <a:lstStyle/>
                    <a:p>
                      <a:pPr indent="0" marL="0">
                        <a:buNone/>
                      </a:pPr>
                      <a:r>
                        <a:rPr lang="en-US" sz="1100" dirty="0">
                          <a:solidFill>
                            <a:srgbClr val="1A2A3A"/>
                          </a:solidFill>
                          <a:latin typeface="Arial" pitchFamily="34" charset="0"/>
                          <a:ea typeface="Arial" pitchFamily="34" charset="-122"/>
                          <a:cs typeface="Arial" pitchFamily="34" charset="-120"/>
                        </a:rPr>
                        <a:t>Headlines</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2A3A"/>
                          </a:solidFill>
                          <a:latin typeface="Arial" pitchFamily="34" charset="0"/>
                          <a:ea typeface="Arial" pitchFamily="34" charset="-122"/>
                          <a:cs typeface="Arial" pitchFamily="34" charset="-120"/>
                        </a:rPr>
                        <a:t>Dark text, Inter 800</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48640">
                <a:tc>
                  <a:txBody>
                    <a:bodyPr/>
                    <a:lstStyle/>
                    <a:p>
                      <a:pPr indent="0" marL="0">
                        <a:buNone/>
                      </a:pPr>
                      <a:r>
                        <a:rPr lang="en-US" sz="1100" dirty="0">
                          <a:solidFill>
                            <a:srgbClr val="1A2A3A"/>
                          </a:solidFill>
                          <a:latin typeface="Arial" pitchFamily="34" charset="0"/>
                          <a:ea typeface="Arial" pitchFamily="34" charset="-122"/>
                          <a:cs typeface="Arial" pitchFamily="34" charset="-120"/>
                        </a:rPr>
                        <a:t>Body</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2A3A"/>
                          </a:solidFill>
                          <a:latin typeface="Arial" pitchFamily="34" charset="0"/>
                          <a:ea typeface="Arial" pitchFamily="34" charset="-122"/>
                          <a:cs typeface="Arial" pitchFamily="34" charset="-120"/>
                        </a:rPr>
                        <a:t>Gray text, Inter 400</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48640">
                <a:tc>
                  <a:txBody>
                    <a:bodyPr/>
                    <a:lstStyle/>
                    <a:p>
                      <a:pPr indent="0" marL="0">
                        <a:buNone/>
                      </a:pPr>
                      <a:r>
                        <a:rPr lang="en-US" sz="1100" dirty="0">
                          <a:solidFill>
                            <a:srgbClr val="1A2A3A"/>
                          </a:solidFill>
                          <a:latin typeface="Arial" pitchFamily="34" charset="0"/>
                          <a:ea typeface="Arial" pitchFamily="34" charset="-122"/>
                          <a:cs typeface="Arial" pitchFamily="34" charset="-120"/>
                        </a:rPr>
                        <a:t>Accents</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2A3A"/>
                          </a:solidFill>
                          <a:latin typeface="Arial" pitchFamily="34" charset="0"/>
                          <a:ea typeface="Arial" pitchFamily="34" charset="-122"/>
                          <a:cs typeface="Arial" pitchFamily="34" charset="-120"/>
                        </a:rPr>
                        <a:t>Gold for badges and highlights</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6" name="Text 3"/>
          <p:cNvSpPr/>
          <p:nvPr/>
        </p:nvSpPr>
        <p:spPr>
          <a:xfrm>
            <a:off x="6217920" y="1463040"/>
            <a:ext cx="4572000" cy="274320"/>
          </a:xfrm>
          <a:prstGeom prst="rect">
            <a:avLst/>
          </a:prstGeom>
          <a:noFill/>
          <a:ln/>
        </p:spPr>
        <p:txBody>
          <a:bodyPr wrap="square" rtlCol="0" anchor="ctr"/>
          <a:lstStyle/>
          <a:p>
            <a:pPr indent="0" marL="0">
              <a:buNone/>
            </a:pPr>
            <a:r>
              <a:rPr lang="en-US" sz="1200" b="1" spc="100" kern="0" dirty="0">
                <a:solidFill>
                  <a:srgbClr val="0B8C3F"/>
                </a:solidFill>
                <a:latin typeface="Arial" pitchFamily="34" charset="0"/>
                <a:ea typeface="Arial" pitchFamily="34" charset="-122"/>
                <a:cs typeface="Arial" pitchFamily="34" charset="-120"/>
              </a:rPr>
              <a:t>MOBILE APP</a:t>
            </a:r>
            <a:endParaRPr lang="en-US" sz="12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6217920" y="1783080"/>
          <a:ext cx="5394960" cy="2743200"/>
        </p:xfrm>
        <a:graphic>
          <a:graphicData uri="http://schemas.openxmlformats.org/drawingml/2006/table">
            <a:tbl>
              <a:tblPr/>
              <a:tblGrid>
                <a:gridCol w="1554480"/>
                <a:gridCol w="3840480"/>
              </a:tblGrid>
              <a:tr h="548640">
                <a:tc>
                  <a:txBody>
                    <a:bodyPr/>
                    <a:lstStyle/>
                    <a:p>
                      <a:pPr indent="0" marL="0">
                        <a:buNone/>
                      </a:pPr>
                      <a:r>
                        <a:rPr lang="en-US" sz="1100" dirty="0">
                          <a:solidFill>
                            <a:srgbClr val="1A2A3A"/>
                          </a:solidFill>
                          <a:latin typeface="Arial" pitchFamily="34" charset="0"/>
                          <a:ea typeface="Arial" pitchFamily="34" charset="-122"/>
                          <a:cs typeface="Arial" pitchFamily="34" charset="-120"/>
                        </a:rPr>
                        <a:t>Header</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2A3A"/>
                          </a:solidFill>
                          <a:latin typeface="Arial" pitchFamily="34" charset="0"/>
                          <a:ea typeface="Arial" pitchFamily="34" charset="-122"/>
                          <a:cs typeface="Arial" pitchFamily="34" charset="-120"/>
                        </a:rPr>
                        <a:t>Green with white text</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48640">
                <a:tc>
                  <a:txBody>
                    <a:bodyPr/>
                    <a:lstStyle/>
                    <a:p>
                      <a:pPr indent="0" marL="0">
                        <a:buNone/>
                      </a:pPr>
                      <a:r>
                        <a:rPr lang="en-US" sz="1100" dirty="0">
                          <a:solidFill>
                            <a:srgbClr val="1A2A3A"/>
                          </a:solidFill>
                          <a:latin typeface="Arial" pitchFamily="34" charset="0"/>
                          <a:ea typeface="Arial" pitchFamily="34" charset="-122"/>
                          <a:cs typeface="Arial" pitchFamily="34" charset="-120"/>
                        </a:rPr>
                        <a:t>Logo</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2A3A"/>
                          </a:solidFill>
                          <a:latin typeface="Arial" pitchFamily="34" charset="0"/>
                          <a:ea typeface="Arial" pitchFamily="34" charset="-122"/>
                          <a:cs typeface="Arial" pitchFamily="34" charset="-120"/>
                        </a:rPr>
                        <a:t>KC icon (smaller space)</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48640">
                <a:tc>
                  <a:txBody>
                    <a:bodyPr/>
                    <a:lstStyle/>
                    <a:p>
                      <a:pPr indent="0" marL="0">
                        <a:buNone/>
                      </a:pPr>
                      <a:r>
                        <a:rPr lang="en-US" sz="1100" dirty="0">
                          <a:solidFill>
                            <a:srgbClr val="1A2A3A"/>
                          </a:solidFill>
                          <a:latin typeface="Arial" pitchFamily="34" charset="0"/>
                          <a:ea typeface="Arial" pitchFamily="34" charset="-122"/>
                          <a:cs typeface="Arial" pitchFamily="34" charset="-120"/>
                        </a:rPr>
                        <a:t>Tabs</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2A3A"/>
                          </a:solidFill>
                          <a:latin typeface="Arial" pitchFamily="34" charset="0"/>
                          <a:ea typeface="Arial" pitchFamily="34" charset="-122"/>
                          <a:cs typeface="Arial" pitchFamily="34" charset="-120"/>
                        </a:rPr>
                        <a:t>Green active icons</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48640">
                <a:tc>
                  <a:txBody>
                    <a:bodyPr/>
                    <a:lstStyle/>
                    <a:p>
                      <a:pPr indent="0" marL="0">
                        <a:buNone/>
                      </a:pPr>
                      <a:r>
                        <a:rPr lang="en-US" sz="1100" dirty="0">
                          <a:solidFill>
                            <a:srgbClr val="1A2A3A"/>
                          </a:solidFill>
                          <a:latin typeface="Arial" pitchFamily="34" charset="0"/>
                          <a:ea typeface="Arial" pitchFamily="34" charset="-122"/>
                          <a:cs typeface="Arial" pitchFamily="34" charset="-120"/>
                        </a:rPr>
                        <a:t>Buttons</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2A3A"/>
                          </a:solidFill>
                          <a:latin typeface="Arial" pitchFamily="34" charset="0"/>
                          <a:ea typeface="Arial" pitchFamily="34" charset="-122"/>
                          <a:cs typeface="Arial" pitchFamily="34" charset="-120"/>
                        </a:rPr>
                        <a:t>Green primary, Gold for CTA</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48640">
                <a:tc>
                  <a:txBody>
                    <a:bodyPr/>
                    <a:lstStyle/>
                    <a:p>
                      <a:pPr indent="0" marL="0">
                        <a:buNone/>
                      </a:pPr>
                      <a:r>
                        <a:rPr lang="en-US" sz="1100" dirty="0">
                          <a:solidFill>
                            <a:srgbClr val="1A2A3A"/>
                          </a:solidFill>
                          <a:latin typeface="Arial" pitchFamily="34" charset="0"/>
                          <a:ea typeface="Arial" pitchFamily="34" charset="-122"/>
                          <a:cs typeface="Arial" pitchFamily="34" charset="-120"/>
                        </a:rPr>
                        <a:t>Cards</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2A3A"/>
                          </a:solidFill>
                          <a:latin typeface="Arial" pitchFamily="34" charset="0"/>
                          <a:ea typeface="Arial" pitchFamily="34" charset="-122"/>
                          <a:cs typeface="Arial" pitchFamily="34" charset="-120"/>
                        </a:rPr>
                        <a:t>White with subtle shadow</a:t>
                      </a:r>
                      <a:endParaRPr lang="en-US" sz="11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8" name="Shape 4"/>
          <p:cNvSpPr/>
          <p:nvPr/>
        </p:nvSpPr>
        <p:spPr>
          <a:xfrm>
            <a:off x="548640" y="5257800"/>
            <a:ext cx="11064240" cy="822960"/>
          </a:xfrm>
          <a:prstGeom prst="roundRect">
            <a:avLst>
              <a:gd name="adj" fmla="val 8889"/>
            </a:avLst>
          </a:prstGeom>
          <a:solidFill>
            <a:srgbClr val="0B8C3F"/>
          </a:solidFill>
          <a:ln/>
        </p:spPr>
      </p:sp>
      <p:sp>
        <p:nvSpPr>
          <p:cNvPr id="9" name="Text 5"/>
          <p:cNvSpPr/>
          <p:nvPr/>
        </p:nvSpPr>
        <p:spPr>
          <a:xfrm>
            <a:off x="822960" y="5394960"/>
            <a:ext cx="2011680" cy="320040"/>
          </a:xfrm>
          <a:prstGeom prst="rect">
            <a:avLst/>
          </a:prstGeom>
          <a:noFill/>
          <a:ln/>
        </p:spPr>
        <p:txBody>
          <a:bodyPr wrap="square" rtlCol="0" anchor="ctr"/>
          <a:lstStyle/>
          <a:p>
            <a:pPr indent="0" marL="0">
              <a:buNone/>
            </a:pPr>
            <a:r>
              <a:rPr lang="en-US" sz="1100" b="1" dirty="0">
                <a:solidFill>
                  <a:srgbClr val="D9F2E2"/>
                </a:solidFill>
                <a:latin typeface="Arial" pitchFamily="34" charset="0"/>
                <a:ea typeface="Arial" pitchFamily="34" charset="-122"/>
                <a:cs typeface="Arial" pitchFamily="34" charset="-120"/>
              </a:rPr>
              <a:t>Live Website</a:t>
            </a:r>
            <a:endParaRPr lang="en-US" sz="1100" dirty="0"/>
          </a:p>
        </p:txBody>
      </p:sp>
      <p:sp>
        <p:nvSpPr>
          <p:cNvPr id="10" name="Text 6"/>
          <p:cNvSpPr/>
          <p:nvPr/>
        </p:nvSpPr>
        <p:spPr>
          <a:xfrm>
            <a:off x="822960" y="5669280"/>
            <a:ext cx="10515600" cy="320040"/>
          </a:xfrm>
          <a:prstGeom prst="rect">
            <a:avLst/>
          </a:prstGeom>
          <a:noFill/>
          <a:ln/>
        </p:spPr>
        <p:txBody>
          <a:bodyPr wrap="square" rtlCol="0" anchor="ctr"/>
          <a:lstStyle/>
          <a:p>
            <a:pPr indent="0" marL="0">
              <a:buNone/>
            </a:pPr>
            <a:r>
              <a:rPr lang="en-US" sz="1250" dirty="0">
                <a:solidFill>
                  <a:srgbClr val="FFFFFF"/>
                </a:solidFill>
                <a:latin typeface="Arial" pitchFamily="34" charset="0"/>
                <a:ea typeface="Arial" pitchFamily="34" charset="-122"/>
                <a:cs typeface="Arial" pitchFamily="34" charset="-120"/>
              </a:rPr>
              <a:t>https://sikhutazejoseph.github.io/khayelitsha---connect/</a:t>
            </a:r>
            <a:endParaRPr lang="en-US" sz="1250" dirty="0"/>
          </a:p>
        </p:txBody>
      </p:sp>
      <p:sp>
        <p:nvSpPr>
          <p:cNvPr id="11" name="Shape 7"/>
          <p:cNvSpPr/>
          <p:nvPr/>
        </p:nvSpPr>
        <p:spPr>
          <a:xfrm>
            <a:off x="457200" y="6400800"/>
            <a:ext cx="292608" cy="292608"/>
          </a:xfrm>
          <a:prstGeom prst="roundRect">
            <a:avLst>
              <a:gd name="adj" fmla="val 16000"/>
            </a:avLst>
          </a:prstGeom>
          <a:solidFill>
            <a:srgbClr val="FFFFFF"/>
          </a:solidFill>
          <a:ln w="12700">
            <a:solidFill>
              <a:srgbClr val="E2E8F0"/>
            </a:solidFill>
            <a:prstDash val="solid"/>
          </a:ln>
        </p:spPr>
      </p:sp>
      <p:pic>
        <p:nvPicPr>
          <p:cNvPr id="12" name="Image 0" descr="/home/claude/ekhaya/logo_icon_square.png">    </p:cNvPr>
          <p:cNvPicPr>
            <a:picLocks noChangeAspect="1"/>
          </p:cNvPicPr>
          <p:nvPr/>
        </p:nvPicPr>
        <p:blipFill>
          <a:blip r:embed="rId1"/>
          <a:stretch>
            <a:fillRect/>
          </a:stretch>
        </p:blipFill>
        <p:spPr>
          <a:xfrm>
            <a:off x="483535" y="6427135"/>
            <a:ext cx="239939" cy="239939"/>
          </a:xfrm>
          <a:prstGeom prst="rect">
            <a:avLst/>
          </a:prstGeom>
        </p:spPr>
      </p:pic>
      <p:sp>
        <p:nvSpPr>
          <p:cNvPr id="13" name="Text 8"/>
          <p:cNvSpPr/>
          <p:nvPr/>
        </p:nvSpPr>
        <p:spPr>
          <a:xfrm>
            <a:off x="841248" y="6419088"/>
            <a:ext cx="4572000" cy="292608"/>
          </a:xfrm>
          <a:prstGeom prst="rect">
            <a:avLst/>
          </a:prstGeom>
          <a:noFill/>
          <a:ln/>
        </p:spPr>
        <p:txBody>
          <a:bodyPr wrap="square" rtlCol="0" anchor="ctr"/>
          <a:lstStyle/>
          <a:p>
            <a:pPr indent="0" marL="0">
              <a:buNone/>
            </a:pPr>
            <a:r>
              <a:rPr lang="en-US" sz="900" dirty="0">
                <a:solidFill>
                  <a:srgbClr val="6C7A8A"/>
                </a:solidFill>
                <a:latin typeface="Arial" pitchFamily="34" charset="0"/>
                <a:ea typeface="Arial" pitchFamily="34" charset="-122"/>
                <a:cs typeface="Arial" pitchFamily="34" charset="-120"/>
              </a:rPr>
              <a:t>eKhaya Connect · Brand Guide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0B8C3F"/>
                </a:solidFill>
                <a:latin typeface="Arial" pitchFamily="34" charset="0"/>
                <a:ea typeface="Arial" pitchFamily="34" charset="-122"/>
                <a:cs typeface="Arial" pitchFamily="34" charset="-120"/>
              </a:rPr>
              <a:t>BRAND APPLICATIONS</a:t>
            </a:r>
            <a:endParaRPr lang="en-US" sz="1300" dirty="0"/>
          </a:p>
        </p:txBody>
      </p:sp>
      <p:sp>
        <p:nvSpPr>
          <p:cNvPr id="3" name="Text 1"/>
          <p:cNvSpPr/>
          <p:nvPr/>
        </p:nvSpPr>
        <p:spPr>
          <a:xfrm>
            <a:off x="548640" y="658368"/>
            <a:ext cx="10789920" cy="658368"/>
          </a:xfrm>
          <a:prstGeom prst="rect">
            <a:avLst/>
          </a:prstGeom>
          <a:noFill/>
          <a:ln/>
        </p:spPr>
        <p:txBody>
          <a:bodyPr wrap="square" rtlCol="0" anchor="ctr"/>
          <a:lstStyle/>
          <a:p>
            <a:pPr indent="0" marL="0">
              <a:buNone/>
            </a:pPr>
            <a:r>
              <a:rPr lang="en-US" sz="3000" b="1" dirty="0">
                <a:solidFill>
                  <a:srgbClr val="1A2A3A"/>
                </a:solidFill>
                <a:latin typeface="Arial" pitchFamily="34" charset="0"/>
                <a:ea typeface="Arial" pitchFamily="34" charset="-122"/>
                <a:cs typeface="Arial" pitchFamily="34" charset="-120"/>
              </a:rPr>
              <a:t>Social Media &amp; Print</a:t>
            </a:r>
            <a:endParaRPr lang="en-US" sz="3000" dirty="0"/>
          </a:p>
        </p:txBody>
      </p:sp>
      <p:sp>
        <p:nvSpPr>
          <p:cNvPr id="4" name="Text 2"/>
          <p:cNvSpPr/>
          <p:nvPr/>
        </p:nvSpPr>
        <p:spPr>
          <a:xfrm>
            <a:off x="548640" y="1463040"/>
            <a:ext cx="4572000" cy="274320"/>
          </a:xfrm>
          <a:prstGeom prst="rect">
            <a:avLst/>
          </a:prstGeom>
          <a:noFill/>
          <a:ln/>
        </p:spPr>
        <p:txBody>
          <a:bodyPr wrap="square" rtlCol="0" anchor="ctr"/>
          <a:lstStyle/>
          <a:p>
            <a:pPr indent="0" marL="0">
              <a:buNone/>
            </a:pPr>
            <a:r>
              <a:rPr lang="en-US" sz="1200" b="1" spc="100" kern="0" dirty="0">
                <a:solidFill>
                  <a:srgbClr val="0B8C3F"/>
                </a:solidFill>
                <a:latin typeface="Arial" pitchFamily="34" charset="0"/>
                <a:ea typeface="Arial" pitchFamily="34" charset="-122"/>
                <a:cs typeface="Arial" pitchFamily="34" charset="-120"/>
              </a:rPr>
              <a:t>SOCIAL MEDIA</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5394960" cy="1828800"/>
        </p:xfrm>
        <a:graphic>
          <a:graphicData uri="http://schemas.openxmlformats.org/drawingml/2006/table">
            <a:tbl>
              <a:tblPr/>
              <a:tblGrid>
                <a:gridCol w="1554480"/>
                <a:gridCol w="1554480"/>
                <a:gridCol w="2286000"/>
              </a:tblGrid>
              <a:tr h="438912">
                <a:tc>
                  <a:txBody>
                    <a:bodyPr/>
                    <a:lstStyle/>
                    <a:p>
                      <a:pPr indent="0" marL="0">
                        <a:buNone/>
                      </a:pPr>
                      <a:r>
                        <a:rPr lang="en-US" sz="1000" b="1" dirty="0">
                          <a:solidFill>
                            <a:srgbClr val="FFFFFF"/>
                          </a:solidFill>
                          <a:latin typeface="Arial" pitchFamily="34" charset="0"/>
                          <a:ea typeface="Arial" pitchFamily="34" charset="-122"/>
                          <a:cs typeface="Arial" pitchFamily="34" charset="-120"/>
                        </a:rPr>
                        <a:t>Platform</a:t>
                      </a:r>
                      <a:endParaRPr lang="en-US" sz="10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8C3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Profile</a:t>
                      </a:r>
                      <a:endParaRPr lang="en-US" sz="10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8C3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Post Style</a:t>
                      </a:r>
                      <a:endParaRPr lang="en-US" sz="10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8C3F"/>
                    </a:solidFill>
                  </a:tcPr>
                </a:tc>
              </a:tr>
              <a:tr h="438912">
                <a:tc>
                  <a:txBody>
                    <a:bodyPr/>
                    <a:lstStyle/>
                    <a:p>
                      <a:pPr indent="0" marL="0">
                        <a:buNone/>
                      </a:pPr>
                      <a:r>
                        <a:rPr lang="en-US" sz="1000" dirty="0">
                          <a:solidFill>
                            <a:srgbClr val="1A2A3A"/>
                          </a:solidFill>
                          <a:latin typeface="Arial" pitchFamily="34" charset="0"/>
                          <a:ea typeface="Arial" pitchFamily="34" charset="-122"/>
                          <a:cs typeface="Arial" pitchFamily="34" charset="-120"/>
                        </a:rPr>
                        <a:t>Facebook</a:t>
                      </a:r>
                      <a:endParaRPr lang="en-US" sz="10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A3A"/>
                          </a:solidFill>
                          <a:latin typeface="Arial" pitchFamily="34" charset="0"/>
                          <a:ea typeface="Arial" pitchFamily="34" charset="-122"/>
                          <a:cs typeface="Arial" pitchFamily="34" charset="-120"/>
                        </a:rPr>
                        <a:t>Logo icon (eK)</a:t>
                      </a:r>
                      <a:endParaRPr lang="en-US" sz="10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A3A"/>
                          </a:solidFill>
                          <a:latin typeface="Arial" pitchFamily="34" charset="0"/>
                          <a:ea typeface="Arial" pitchFamily="34" charset="-122"/>
                          <a:cs typeface="Arial" pitchFamily="34" charset="-120"/>
                        </a:rPr>
                        <a:t>Green + Gold accents</a:t>
                      </a:r>
                      <a:endParaRPr lang="en-US" sz="10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38912">
                <a:tc>
                  <a:txBody>
                    <a:bodyPr/>
                    <a:lstStyle/>
                    <a:p>
                      <a:pPr indent="0" marL="0">
                        <a:buNone/>
                      </a:pPr>
                      <a:r>
                        <a:rPr lang="en-US" sz="1000" dirty="0">
                          <a:solidFill>
                            <a:srgbClr val="1A2A3A"/>
                          </a:solidFill>
                          <a:latin typeface="Arial" pitchFamily="34" charset="0"/>
                          <a:ea typeface="Arial" pitchFamily="34" charset="-122"/>
                          <a:cs typeface="Arial" pitchFamily="34" charset="-120"/>
                        </a:rPr>
                        <a:t>WhatsApp</a:t>
                      </a:r>
                      <a:endParaRPr lang="en-US" sz="10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A3A"/>
                          </a:solidFill>
                          <a:latin typeface="Arial" pitchFamily="34" charset="0"/>
                          <a:ea typeface="Arial" pitchFamily="34" charset="-122"/>
                          <a:cs typeface="Arial" pitchFamily="34" charset="-120"/>
                        </a:rPr>
                        <a:t>Logo icon (eK)</a:t>
                      </a:r>
                      <a:endParaRPr lang="en-US" sz="10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A3A"/>
                          </a:solidFill>
                          <a:latin typeface="Arial" pitchFamily="34" charset="0"/>
                          <a:ea typeface="Arial" pitchFamily="34" charset="-122"/>
                          <a:cs typeface="Arial" pitchFamily="34" charset="-120"/>
                        </a:rPr>
                        <a:t>Voice notes + images, green border</a:t>
                      </a:r>
                      <a:endParaRPr lang="en-US" sz="10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38912">
                <a:tc>
                  <a:txBody>
                    <a:bodyPr/>
                    <a:lstStyle/>
                    <a:p>
                      <a:pPr indent="0" marL="0">
                        <a:buNone/>
                      </a:pPr>
                      <a:r>
                        <a:rPr lang="en-US" sz="1000" dirty="0">
                          <a:solidFill>
                            <a:srgbClr val="1A2A3A"/>
                          </a:solidFill>
                          <a:latin typeface="Arial" pitchFamily="34" charset="0"/>
                          <a:ea typeface="Arial" pitchFamily="34" charset="-122"/>
                          <a:cs typeface="Arial" pitchFamily="34" charset="-120"/>
                        </a:rPr>
                        <a:t>Instagram</a:t>
                      </a:r>
                      <a:endParaRPr lang="en-US" sz="10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A3A"/>
                          </a:solidFill>
                          <a:latin typeface="Arial" pitchFamily="34" charset="0"/>
                          <a:ea typeface="Arial" pitchFamily="34" charset="-122"/>
                          <a:cs typeface="Arial" pitchFamily="34" charset="-120"/>
                        </a:rPr>
                        <a:t>Logo icon (eK)</a:t>
                      </a:r>
                      <a:endParaRPr lang="en-US" sz="10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2A3A"/>
                          </a:solidFill>
                          <a:latin typeface="Arial" pitchFamily="34" charset="0"/>
                          <a:ea typeface="Arial" pitchFamily="34" charset="-122"/>
                          <a:cs typeface="Arial" pitchFamily="34" charset="-120"/>
                        </a:rPr>
                        <a:t>Community-focused content</a:t>
                      </a:r>
                      <a:endParaRPr lang="en-US" sz="10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6" name="Text 3"/>
          <p:cNvSpPr/>
          <p:nvPr/>
        </p:nvSpPr>
        <p:spPr>
          <a:xfrm>
            <a:off x="6217920" y="1463040"/>
            <a:ext cx="4572000" cy="274320"/>
          </a:xfrm>
          <a:prstGeom prst="rect">
            <a:avLst/>
          </a:prstGeom>
          <a:noFill/>
          <a:ln/>
        </p:spPr>
        <p:txBody>
          <a:bodyPr wrap="square" rtlCol="0" anchor="ctr"/>
          <a:lstStyle/>
          <a:p>
            <a:pPr indent="0" marL="0">
              <a:buNone/>
            </a:pPr>
            <a:r>
              <a:rPr lang="en-US" sz="1200" b="1" spc="100" kern="0" dirty="0">
                <a:solidFill>
                  <a:srgbClr val="0B8C3F"/>
                </a:solidFill>
                <a:latin typeface="Arial" pitchFamily="34" charset="0"/>
                <a:ea typeface="Arial" pitchFamily="34" charset="-122"/>
                <a:cs typeface="Arial" pitchFamily="34" charset="-120"/>
              </a:rPr>
              <a:t>PRINT MATERIALS</a:t>
            </a:r>
            <a:endParaRPr lang="en-US" sz="12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217920" y="1783080"/>
          <a:ext cx="5394960" cy="3291840"/>
        </p:xfrm>
        <a:graphic>
          <a:graphicData uri="http://schemas.openxmlformats.org/drawingml/2006/table">
            <a:tbl>
              <a:tblPr/>
              <a:tblGrid>
                <a:gridCol w="1737360"/>
                <a:gridCol w="3657600"/>
              </a:tblGrid>
              <a:tr h="621792">
                <a:tc>
                  <a:txBody>
                    <a:bodyPr/>
                    <a:lstStyle/>
                    <a:p>
                      <a:pPr indent="0" marL="0">
                        <a:buNone/>
                      </a:pPr>
                      <a:r>
                        <a:rPr lang="en-US" sz="1050" dirty="0">
                          <a:solidFill>
                            <a:srgbClr val="1A2A3A"/>
                          </a:solidFill>
                          <a:latin typeface="Arial" pitchFamily="34" charset="0"/>
                          <a:ea typeface="Arial" pitchFamily="34" charset="-122"/>
                          <a:cs typeface="Arial" pitchFamily="34" charset="-120"/>
                        </a:rPr>
                        <a:t>Flyers</a:t>
                      </a:r>
                      <a:endParaRPr lang="en-US" sz="10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1A2A3A"/>
                          </a:solidFill>
                          <a:latin typeface="Arial" pitchFamily="34" charset="0"/>
                          <a:ea typeface="Arial" pitchFamily="34" charset="-122"/>
                          <a:cs typeface="Arial" pitchFamily="34" charset="-120"/>
                        </a:rPr>
                        <a:t>Green &amp; white, Gold accents, logo top, clear CTA</a:t>
                      </a:r>
                      <a:endParaRPr lang="en-US" sz="10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621792">
                <a:tc>
                  <a:txBody>
                    <a:bodyPr/>
                    <a:lstStyle/>
                    <a:p>
                      <a:pPr indent="0" marL="0">
                        <a:buNone/>
                      </a:pPr>
                      <a:r>
                        <a:rPr lang="en-US" sz="1050" dirty="0">
                          <a:solidFill>
                            <a:srgbClr val="1A2A3A"/>
                          </a:solidFill>
                          <a:latin typeface="Arial" pitchFamily="34" charset="0"/>
                          <a:ea typeface="Arial" pitchFamily="34" charset="-122"/>
                          <a:cs typeface="Arial" pitchFamily="34" charset="-120"/>
                        </a:rPr>
                        <a:t>Posters</a:t>
                      </a:r>
                      <a:endParaRPr lang="en-US" sz="10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1A2A3A"/>
                          </a:solidFill>
                          <a:latin typeface="Arial" pitchFamily="34" charset="0"/>
                          <a:ea typeface="Arial" pitchFamily="34" charset="-122"/>
                          <a:cs typeface="Arial" pitchFamily="34" charset="-120"/>
                        </a:rPr>
                        <a:t>Bold headline, R399 price prominent, contact details</a:t>
                      </a:r>
                      <a:endParaRPr lang="en-US" sz="10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621792">
                <a:tc>
                  <a:txBody>
                    <a:bodyPr/>
                    <a:lstStyle/>
                    <a:p>
                      <a:pPr indent="0" marL="0">
                        <a:buNone/>
                      </a:pPr>
                      <a:r>
                        <a:rPr lang="en-US" sz="1050" dirty="0">
                          <a:solidFill>
                            <a:srgbClr val="1A2A3A"/>
                          </a:solidFill>
                          <a:latin typeface="Arial" pitchFamily="34" charset="0"/>
                          <a:ea typeface="Arial" pitchFamily="34" charset="-122"/>
                          <a:cs typeface="Arial" pitchFamily="34" charset="-120"/>
                        </a:rPr>
                        <a:t>Business Cards</a:t>
                      </a:r>
                      <a:endParaRPr lang="en-US" sz="10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1A2A3A"/>
                          </a:solidFill>
                          <a:latin typeface="Arial" pitchFamily="34" charset="0"/>
                          <a:ea typeface="Arial" pitchFamily="34" charset="-122"/>
                          <a:cs typeface="Arial" pitchFamily="34" charset="-120"/>
                        </a:rPr>
                        <a:t>Logo on front, contact details on back, green accent</a:t>
                      </a:r>
                      <a:endParaRPr lang="en-US" sz="10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621792">
                <a:tc>
                  <a:txBody>
                    <a:bodyPr/>
                    <a:lstStyle/>
                    <a:p>
                      <a:pPr indent="0" marL="0">
                        <a:buNone/>
                      </a:pPr>
                      <a:r>
                        <a:rPr lang="en-US" sz="1050" dirty="0">
                          <a:solidFill>
                            <a:srgbClr val="1A2A3A"/>
                          </a:solidFill>
                          <a:latin typeface="Arial" pitchFamily="34" charset="0"/>
                          <a:ea typeface="Arial" pitchFamily="34" charset="-122"/>
                          <a:cs typeface="Arial" pitchFamily="34" charset="-120"/>
                        </a:rPr>
                        <a:t>Vehicle Branding</a:t>
                      </a:r>
                      <a:endParaRPr lang="en-US" sz="10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1A2A3A"/>
                          </a:solidFill>
                          <a:latin typeface="Arial" pitchFamily="34" charset="0"/>
                          <a:ea typeface="Arial" pitchFamily="34" charset="-122"/>
                          <a:cs typeface="Arial" pitchFamily="34" charset="-120"/>
                        </a:rPr>
                        <a:t>Logo large on sides, tagline, contact number</a:t>
                      </a:r>
                      <a:endParaRPr lang="en-US" sz="10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8" name="Shape 4"/>
          <p:cNvSpPr/>
          <p:nvPr/>
        </p:nvSpPr>
        <p:spPr>
          <a:xfrm>
            <a:off x="457200" y="6400800"/>
            <a:ext cx="292608" cy="292608"/>
          </a:xfrm>
          <a:prstGeom prst="roundRect">
            <a:avLst>
              <a:gd name="adj" fmla="val 16000"/>
            </a:avLst>
          </a:prstGeom>
          <a:solidFill>
            <a:srgbClr val="FFFFFF"/>
          </a:solidFill>
          <a:ln w="12700">
            <a:solidFill>
              <a:srgbClr val="E2E8F0"/>
            </a:solidFill>
            <a:prstDash val="solid"/>
          </a:ln>
        </p:spPr>
      </p:sp>
      <p:pic>
        <p:nvPicPr>
          <p:cNvPr id="9" name="Image 0" descr="/home/claude/ekhaya/logo_icon_square.png">    </p:cNvPr>
          <p:cNvPicPr>
            <a:picLocks noChangeAspect="1"/>
          </p:cNvPicPr>
          <p:nvPr/>
        </p:nvPicPr>
        <p:blipFill>
          <a:blip r:embed="rId1"/>
          <a:stretch>
            <a:fillRect/>
          </a:stretch>
        </p:blipFill>
        <p:spPr>
          <a:xfrm>
            <a:off x="483535" y="6427135"/>
            <a:ext cx="239939" cy="239939"/>
          </a:xfrm>
          <a:prstGeom prst="rect">
            <a:avLst/>
          </a:prstGeom>
        </p:spPr>
      </p:pic>
      <p:sp>
        <p:nvSpPr>
          <p:cNvPr id="10" name="Text 5"/>
          <p:cNvSpPr/>
          <p:nvPr/>
        </p:nvSpPr>
        <p:spPr>
          <a:xfrm>
            <a:off x="841248" y="6419088"/>
            <a:ext cx="4572000" cy="292608"/>
          </a:xfrm>
          <a:prstGeom prst="rect">
            <a:avLst/>
          </a:prstGeom>
          <a:noFill/>
          <a:ln/>
        </p:spPr>
        <p:txBody>
          <a:bodyPr wrap="square" rtlCol="0" anchor="ctr"/>
          <a:lstStyle/>
          <a:p>
            <a:pPr indent="0" marL="0">
              <a:buNone/>
            </a:pPr>
            <a:r>
              <a:rPr lang="en-US" sz="900" dirty="0">
                <a:solidFill>
                  <a:srgbClr val="6C7A8A"/>
                </a:solidFill>
                <a:latin typeface="Arial" pitchFamily="34" charset="0"/>
                <a:ea typeface="Arial" pitchFamily="34" charset="-122"/>
                <a:cs typeface="Arial" pitchFamily="34" charset="-120"/>
              </a:rPr>
              <a:t>eKhaya Connect · Brand Guide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0B8C3F"/>
                </a:solidFill>
                <a:latin typeface="Arial" pitchFamily="34" charset="0"/>
                <a:ea typeface="Arial" pitchFamily="34" charset="-122"/>
                <a:cs typeface="Arial" pitchFamily="34" charset="-120"/>
              </a:rPr>
              <a:t>VOICE &amp; MESSAGING</a:t>
            </a:r>
            <a:endParaRPr lang="en-US" sz="1300" dirty="0"/>
          </a:p>
        </p:txBody>
      </p:sp>
      <p:sp>
        <p:nvSpPr>
          <p:cNvPr id="3" name="Text 1"/>
          <p:cNvSpPr/>
          <p:nvPr/>
        </p:nvSpPr>
        <p:spPr>
          <a:xfrm>
            <a:off x="548640" y="658368"/>
            <a:ext cx="10789920" cy="658368"/>
          </a:xfrm>
          <a:prstGeom prst="rect">
            <a:avLst/>
          </a:prstGeom>
          <a:noFill/>
          <a:ln/>
        </p:spPr>
        <p:txBody>
          <a:bodyPr wrap="square" rtlCol="0" anchor="ctr"/>
          <a:lstStyle/>
          <a:p>
            <a:pPr indent="0" marL="0">
              <a:buNone/>
            </a:pPr>
            <a:r>
              <a:rPr lang="en-US" sz="3000" b="1" dirty="0">
                <a:solidFill>
                  <a:srgbClr val="1A2A3A"/>
                </a:solidFill>
                <a:latin typeface="Arial" pitchFamily="34" charset="0"/>
                <a:ea typeface="Arial" pitchFamily="34" charset="-122"/>
                <a:cs typeface="Arial" pitchFamily="34" charset="-120"/>
              </a:rPr>
              <a:t>Messaging Framework</a:t>
            </a:r>
            <a:endParaRPr lang="en-US" sz="3000" dirty="0"/>
          </a:p>
        </p:txBody>
      </p:sp>
      <p:sp>
        <p:nvSpPr>
          <p:cNvPr id="4" name="Shape 2"/>
          <p:cNvSpPr/>
          <p:nvPr/>
        </p:nvSpPr>
        <p:spPr>
          <a:xfrm>
            <a:off x="548640" y="1508760"/>
            <a:ext cx="11064240" cy="1005840"/>
          </a:xfrm>
          <a:prstGeom prst="roundRect">
            <a:avLst>
              <a:gd name="adj" fmla="val 7273"/>
            </a:avLst>
          </a:prstGeom>
          <a:solidFill>
            <a:srgbClr val="1A2A3A"/>
          </a:solidFill>
          <a:ln/>
        </p:spPr>
      </p:sp>
      <p:sp>
        <p:nvSpPr>
          <p:cNvPr id="5" name="Text 3"/>
          <p:cNvSpPr/>
          <p:nvPr/>
        </p:nvSpPr>
        <p:spPr>
          <a:xfrm>
            <a:off x="822960" y="1645920"/>
            <a:ext cx="3657600" cy="274320"/>
          </a:xfrm>
          <a:prstGeom prst="rect">
            <a:avLst/>
          </a:prstGeom>
          <a:noFill/>
          <a:ln/>
        </p:spPr>
        <p:txBody>
          <a:bodyPr wrap="square" rtlCol="0" anchor="ctr"/>
          <a:lstStyle/>
          <a:p>
            <a:pPr indent="0" marL="0">
              <a:buNone/>
            </a:pPr>
            <a:r>
              <a:rPr lang="en-US" sz="1050" b="1" spc="100" kern="0" dirty="0">
                <a:solidFill>
                  <a:srgbClr val="F5B342"/>
                </a:solidFill>
                <a:latin typeface="Arial" pitchFamily="34" charset="0"/>
                <a:ea typeface="Arial" pitchFamily="34" charset="-122"/>
                <a:cs typeface="Arial" pitchFamily="34" charset="-120"/>
              </a:rPr>
              <a:t>ELEVATOR PITCH</a:t>
            </a:r>
            <a:endParaRPr lang="en-US" sz="1050" dirty="0"/>
          </a:p>
        </p:txBody>
      </p:sp>
      <p:sp>
        <p:nvSpPr>
          <p:cNvPr id="6" name="Text 4"/>
          <p:cNvSpPr/>
          <p:nvPr/>
        </p:nvSpPr>
        <p:spPr>
          <a:xfrm>
            <a:off x="822960" y="1920240"/>
            <a:ext cx="10515600" cy="502920"/>
          </a:xfrm>
          <a:prstGeom prst="rect">
            <a:avLst/>
          </a:prstGeom>
          <a:noFill/>
          <a:ln/>
        </p:spPr>
        <p:txBody>
          <a:bodyPr wrap="square" rtlCol="0" anchor="t"/>
          <a:lstStyle/>
          <a:p>
            <a:pPr indent="0" marL="0">
              <a:buNone/>
            </a:pPr>
            <a:r>
              <a:rPr lang="en-US" sz="1450" i="1" dirty="0">
                <a:solidFill>
                  <a:srgbClr val="FFFFFF"/>
                </a:solidFill>
                <a:latin typeface="Arial" pitchFamily="34" charset="0"/>
                <a:ea typeface="Arial" pitchFamily="34" charset="-122"/>
                <a:cs typeface="Arial" pitchFamily="34" charset="-120"/>
              </a:rPr>
              <a:t>“eKhaya Connect brings uncapped home Wi-Fi to Khayelitsha for the price of your DStv.”</a:t>
            </a:r>
            <a:endParaRPr lang="en-US" sz="1450" dirty="0"/>
          </a:p>
        </p:txBody>
      </p:sp>
      <p:sp>
        <p:nvSpPr>
          <p:cNvPr id="7" name="Shape 5"/>
          <p:cNvSpPr/>
          <p:nvPr/>
        </p:nvSpPr>
        <p:spPr>
          <a:xfrm>
            <a:off x="548640" y="2697480"/>
            <a:ext cx="11064240" cy="1600200"/>
          </a:xfrm>
          <a:prstGeom prst="roundRect">
            <a:avLst>
              <a:gd name="adj" fmla="val 4571"/>
            </a:avLst>
          </a:prstGeom>
          <a:solidFill>
            <a:srgbClr val="FFFFFF"/>
          </a:solidFill>
          <a:ln w="12700">
            <a:solidFill>
              <a:srgbClr val="E2E8F0"/>
            </a:solidFill>
            <a:prstDash val="solid"/>
          </a:ln>
        </p:spPr>
      </p:sp>
      <p:sp>
        <p:nvSpPr>
          <p:cNvPr id="8" name="Text 6"/>
          <p:cNvSpPr/>
          <p:nvPr/>
        </p:nvSpPr>
        <p:spPr>
          <a:xfrm>
            <a:off x="822960" y="2834640"/>
            <a:ext cx="4572000" cy="274320"/>
          </a:xfrm>
          <a:prstGeom prst="rect">
            <a:avLst/>
          </a:prstGeom>
          <a:noFill/>
          <a:ln/>
        </p:spPr>
        <p:txBody>
          <a:bodyPr wrap="square" rtlCol="0" anchor="ctr"/>
          <a:lstStyle/>
          <a:p>
            <a:pPr indent="0" marL="0">
              <a:buNone/>
            </a:pPr>
            <a:r>
              <a:rPr lang="en-US" sz="1050" b="1" spc="100" kern="0" dirty="0">
                <a:solidFill>
                  <a:srgbClr val="0B8C3F"/>
                </a:solidFill>
                <a:latin typeface="Arial" pitchFamily="34" charset="0"/>
                <a:ea typeface="Arial" pitchFamily="34" charset="-122"/>
                <a:cs typeface="Arial" pitchFamily="34" charset="-120"/>
              </a:rPr>
              <a:t>ONE-PARAGRAPH PITCH</a:t>
            </a:r>
            <a:endParaRPr lang="en-US" sz="1050" dirty="0"/>
          </a:p>
        </p:txBody>
      </p:sp>
      <p:sp>
        <p:nvSpPr>
          <p:cNvPr id="9" name="Text 7"/>
          <p:cNvSpPr/>
          <p:nvPr/>
        </p:nvSpPr>
        <p:spPr>
          <a:xfrm>
            <a:off x="822960" y="3127248"/>
            <a:ext cx="10515600" cy="1097280"/>
          </a:xfrm>
          <a:prstGeom prst="rect">
            <a:avLst/>
          </a:prstGeom>
          <a:noFill/>
          <a:ln/>
        </p:spPr>
        <p:txBody>
          <a:bodyPr wrap="square" rtlCol="0" anchor="t"/>
          <a:lstStyle/>
          <a:p>
            <a:pPr indent="0" marL="0">
              <a:lnSpc>
                <a:spcPct val="120000"/>
              </a:lnSpc>
              <a:buNone/>
            </a:pPr>
            <a:r>
              <a:rPr lang="en-US" sz="1200" dirty="0">
                <a:solidFill>
                  <a:srgbClr val="1A2A3A"/>
                </a:solidFill>
                <a:latin typeface="Arial" pitchFamily="34" charset="0"/>
                <a:ea typeface="Arial" pitchFamily="34" charset="-122"/>
                <a:cs typeface="Arial" pitchFamily="34" charset="-120"/>
              </a:rPr>
              <a:t>eKhaya Connect is a community-owned wireless internet provider that offers truly uncapped home Wi-Fi for R399 per month — the same price as DStv Compact. We provide 10 Mbps speeds with no throttling, no contracts, and free installation on Standard and Premium plans. We're your neighbours, and we support you in English and isiXhosa.</a:t>
            </a:r>
            <a:endParaRPr lang="en-US" sz="1200" dirty="0"/>
          </a:p>
        </p:txBody>
      </p:sp>
      <p:sp>
        <p:nvSpPr>
          <p:cNvPr id="10" name="Text 8"/>
          <p:cNvSpPr/>
          <p:nvPr/>
        </p:nvSpPr>
        <p:spPr>
          <a:xfrm>
            <a:off x="548640" y="4526280"/>
            <a:ext cx="4572000" cy="274320"/>
          </a:xfrm>
          <a:prstGeom prst="rect">
            <a:avLst/>
          </a:prstGeom>
          <a:noFill/>
          <a:ln/>
        </p:spPr>
        <p:txBody>
          <a:bodyPr wrap="square" rtlCol="0" anchor="ctr"/>
          <a:lstStyle/>
          <a:p>
            <a:pPr indent="0" marL="0">
              <a:buNone/>
            </a:pPr>
            <a:r>
              <a:rPr lang="en-US" sz="1100" b="1" spc="100" kern="0" dirty="0">
                <a:solidFill>
                  <a:srgbClr val="0B8C3F"/>
                </a:solidFill>
                <a:latin typeface="Arial" pitchFamily="34" charset="0"/>
                <a:ea typeface="Arial" pitchFamily="34" charset="-122"/>
                <a:cs typeface="Arial" pitchFamily="34" charset="-120"/>
              </a:rPr>
              <a:t>KEY MESSAGES</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4846320"/>
          <a:ext cx="11109960" cy="1463040"/>
        </p:xfrm>
        <a:graphic>
          <a:graphicData uri="http://schemas.openxmlformats.org/drawingml/2006/table">
            <a:tbl>
              <a:tblPr/>
              <a:tblGrid>
                <a:gridCol w="2926080"/>
                <a:gridCol w="8183880"/>
              </a:tblGrid>
              <a:tr h="365760">
                <a:tc>
                  <a:txBody>
                    <a:bodyPr/>
                    <a:lstStyle/>
                    <a:p>
                      <a:pPr indent="0" marL="0">
                        <a:buNone/>
                      </a:pPr>
                      <a:r>
                        <a:rPr lang="en-US" sz="1150" b="1" dirty="0">
                          <a:solidFill>
                            <a:srgbClr val="FFFFFF"/>
                          </a:solidFill>
                          <a:latin typeface="Arial" pitchFamily="34" charset="0"/>
                          <a:ea typeface="Arial" pitchFamily="34" charset="-122"/>
                          <a:cs typeface="Arial" pitchFamily="34" charset="-120"/>
                        </a:rPr>
                        <a:t>Message</a:t>
                      </a:r>
                      <a:endParaRPr lang="en-US" sz="11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66B2E"/>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Supporting Statement</a:t>
                      </a:r>
                      <a:endParaRPr lang="en-US" sz="11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66B2E"/>
                    </a:solidFill>
                  </a:tcPr>
                </a:tc>
              </a:tr>
              <a:tr h="365760">
                <a:tc>
                  <a:txBody>
                    <a:bodyPr/>
                    <a:lstStyle/>
                    <a:p>
                      <a:pPr indent="0" marL="0">
                        <a:buNone/>
                      </a:pPr>
                      <a:r>
                        <a:rPr lang="en-US" sz="1150" dirty="0">
                          <a:solidFill>
                            <a:srgbClr val="1A2A3A"/>
                          </a:solidFill>
                          <a:latin typeface="Arial" pitchFamily="34" charset="0"/>
                          <a:ea typeface="Arial" pitchFamily="34" charset="-122"/>
                          <a:cs typeface="Arial" pitchFamily="34" charset="-120"/>
                        </a:rPr>
                        <a:t>“Affordable”</a:t>
                      </a:r>
                      <a:endParaRPr lang="en-US" sz="11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1A2A3A"/>
                          </a:solidFill>
                          <a:latin typeface="Arial" pitchFamily="34" charset="0"/>
                          <a:ea typeface="Arial" pitchFamily="34" charset="-122"/>
                          <a:cs typeface="Arial" pitchFamily="34" charset="-120"/>
                        </a:rPr>
                        <a:t>R399/month matches what families already pay for DStv</a:t>
                      </a:r>
                      <a:endParaRPr lang="en-US" sz="11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65760">
                <a:tc>
                  <a:txBody>
                    <a:bodyPr/>
                    <a:lstStyle/>
                    <a:p>
                      <a:pPr indent="0" marL="0">
                        <a:buNone/>
                      </a:pPr>
                      <a:r>
                        <a:rPr lang="en-US" sz="1150" dirty="0">
                          <a:solidFill>
                            <a:srgbClr val="1A2A3A"/>
                          </a:solidFill>
                          <a:latin typeface="Arial" pitchFamily="34" charset="0"/>
                          <a:ea typeface="Arial" pitchFamily="34" charset="-122"/>
                          <a:cs typeface="Arial" pitchFamily="34" charset="-120"/>
                        </a:rPr>
                        <a:t>“Reliable”</a:t>
                      </a:r>
                      <a:endParaRPr lang="en-US" sz="11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1A2A3A"/>
                          </a:solidFill>
                          <a:latin typeface="Arial" pitchFamily="34" charset="0"/>
                          <a:ea typeface="Arial" pitchFamily="34" charset="-122"/>
                          <a:cs typeface="Arial" pitchFamily="34" charset="-120"/>
                        </a:rPr>
                        <a:t>10 Mbps, truly uncapped, no fair-usage policy</a:t>
                      </a:r>
                      <a:endParaRPr lang="en-US" sz="11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65760">
                <a:tc>
                  <a:txBody>
                    <a:bodyPr/>
                    <a:lstStyle/>
                    <a:p>
                      <a:pPr indent="0" marL="0">
                        <a:buNone/>
                      </a:pPr>
                      <a:r>
                        <a:rPr lang="en-US" sz="1150" dirty="0">
                          <a:solidFill>
                            <a:srgbClr val="1A2A3A"/>
                          </a:solidFill>
                          <a:latin typeface="Arial" pitchFamily="34" charset="0"/>
                          <a:ea typeface="Arial" pitchFamily="34" charset="-122"/>
                          <a:cs typeface="Arial" pitchFamily="34" charset="-120"/>
                        </a:rPr>
                        <a:t>“Local”</a:t>
                      </a:r>
                      <a:endParaRPr lang="en-US" sz="11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1A2A3A"/>
                          </a:solidFill>
                          <a:latin typeface="Arial" pitchFamily="34" charset="0"/>
                          <a:ea typeface="Arial" pitchFamily="34" charset="-122"/>
                          <a:cs typeface="Arial" pitchFamily="34" charset="-120"/>
                        </a:rPr>
                        <a:t>Community-owned, local support, profits reinvested</a:t>
                      </a:r>
                      <a:endParaRPr lang="en-US" sz="11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12" name="Shape 9"/>
          <p:cNvSpPr/>
          <p:nvPr/>
        </p:nvSpPr>
        <p:spPr>
          <a:xfrm>
            <a:off x="457200" y="6400800"/>
            <a:ext cx="292608" cy="292608"/>
          </a:xfrm>
          <a:prstGeom prst="roundRect">
            <a:avLst>
              <a:gd name="adj" fmla="val 16000"/>
            </a:avLst>
          </a:prstGeom>
          <a:solidFill>
            <a:srgbClr val="FFFFFF"/>
          </a:solidFill>
          <a:ln w="12700">
            <a:solidFill>
              <a:srgbClr val="E2E8F0"/>
            </a:solidFill>
            <a:prstDash val="solid"/>
          </a:ln>
        </p:spPr>
      </p:sp>
      <p:pic>
        <p:nvPicPr>
          <p:cNvPr id="13" name="Image 0" descr="/home/claude/ekhaya/logo_icon_square.png">    </p:cNvPr>
          <p:cNvPicPr>
            <a:picLocks noChangeAspect="1"/>
          </p:cNvPicPr>
          <p:nvPr/>
        </p:nvPicPr>
        <p:blipFill>
          <a:blip r:embed="rId1"/>
          <a:stretch>
            <a:fillRect/>
          </a:stretch>
        </p:blipFill>
        <p:spPr>
          <a:xfrm>
            <a:off x="483535" y="6427135"/>
            <a:ext cx="239939" cy="239939"/>
          </a:xfrm>
          <a:prstGeom prst="rect">
            <a:avLst/>
          </a:prstGeom>
        </p:spPr>
      </p:pic>
      <p:sp>
        <p:nvSpPr>
          <p:cNvPr id="14" name="Text 10"/>
          <p:cNvSpPr/>
          <p:nvPr/>
        </p:nvSpPr>
        <p:spPr>
          <a:xfrm>
            <a:off x="841248" y="6419088"/>
            <a:ext cx="4572000" cy="292608"/>
          </a:xfrm>
          <a:prstGeom prst="rect">
            <a:avLst/>
          </a:prstGeom>
          <a:noFill/>
          <a:ln/>
        </p:spPr>
        <p:txBody>
          <a:bodyPr wrap="square" rtlCol="0" anchor="ctr"/>
          <a:lstStyle/>
          <a:p>
            <a:pPr indent="0" marL="0">
              <a:buNone/>
            </a:pPr>
            <a:r>
              <a:rPr lang="en-US" sz="900" dirty="0">
                <a:solidFill>
                  <a:srgbClr val="6C7A8A"/>
                </a:solidFill>
                <a:latin typeface="Arial" pitchFamily="34" charset="0"/>
                <a:ea typeface="Arial" pitchFamily="34" charset="-122"/>
                <a:cs typeface="Arial" pitchFamily="34" charset="-120"/>
              </a:rPr>
              <a:t>eKhaya Connect · Brand Guide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0B8C3F"/>
                </a:solidFill>
                <a:latin typeface="Arial" pitchFamily="34" charset="0"/>
                <a:ea typeface="Arial" pitchFamily="34" charset="-122"/>
                <a:cs typeface="Arial" pitchFamily="34" charset="-120"/>
              </a:rPr>
              <a:t>VOICE &amp; MESSAGING</a:t>
            </a:r>
            <a:endParaRPr lang="en-US" sz="1300" dirty="0"/>
          </a:p>
        </p:txBody>
      </p:sp>
      <p:sp>
        <p:nvSpPr>
          <p:cNvPr id="3" name="Text 1"/>
          <p:cNvSpPr/>
          <p:nvPr/>
        </p:nvSpPr>
        <p:spPr>
          <a:xfrm>
            <a:off x="548640" y="658368"/>
            <a:ext cx="10789920" cy="658368"/>
          </a:xfrm>
          <a:prstGeom prst="rect">
            <a:avLst/>
          </a:prstGeom>
          <a:noFill/>
          <a:ln/>
        </p:spPr>
        <p:txBody>
          <a:bodyPr wrap="square" rtlCol="0" anchor="ctr"/>
          <a:lstStyle/>
          <a:p>
            <a:pPr indent="0" marL="0">
              <a:buNone/>
            </a:pPr>
            <a:r>
              <a:rPr lang="en-US" sz="3000" b="1" dirty="0">
                <a:solidFill>
                  <a:srgbClr val="1A2A3A"/>
                </a:solidFill>
                <a:latin typeface="Arial" pitchFamily="34" charset="0"/>
                <a:ea typeface="Arial" pitchFamily="34" charset="-122"/>
                <a:cs typeface="Arial" pitchFamily="34" charset="-120"/>
              </a:rPr>
              <a:t>Competitor Positioning</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109960" cy="2194560"/>
        </p:xfrm>
        <a:graphic>
          <a:graphicData uri="http://schemas.openxmlformats.org/drawingml/2006/table">
            <a:tbl>
              <a:tblPr/>
              <a:tblGrid>
                <a:gridCol w="2743200"/>
                <a:gridCol w="4389120"/>
                <a:gridCol w="3977640"/>
              </a:tblGrid>
              <a:tr h="457200">
                <a:tc>
                  <a:txBody>
                    <a:bodyPr/>
                    <a:lstStyle/>
                    <a:p>
                      <a:pPr indent="0" marL="0">
                        <a:buNone/>
                      </a:pPr>
                      <a:r>
                        <a:rPr lang="en-US" sz="1300" b="1" dirty="0">
                          <a:solidFill>
                            <a:srgbClr val="FFFFFF"/>
                          </a:solidFill>
                          <a:latin typeface="Arial" pitchFamily="34" charset="0"/>
                          <a:ea typeface="Arial" pitchFamily="34" charset="-122"/>
                          <a:cs typeface="Arial" pitchFamily="34" charset="-120"/>
                        </a:rPr>
                        <a:t>Competitor</a:t>
                      </a:r>
                      <a:endParaRPr lang="en-US" sz="13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2A3A"/>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Their Weakness</a:t>
                      </a:r>
                      <a:endParaRPr lang="en-US" sz="13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2A3A"/>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Our Advantage</a:t>
                      </a:r>
                      <a:endParaRPr lang="en-US" sz="13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8C3F"/>
                    </a:solidFill>
                  </a:tcPr>
                </a:tc>
              </a:tr>
              <a:tr h="576072">
                <a:tc>
                  <a:txBody>
                    <a:bodyPr/>
                    <a:lstStyle/>
                    <a:p>
                      <a:pPr indent="0" marL="0">
                        <a:buNone/>
                      </a:pPr>
                      <a:r>
                        <a:rPr lang="en-US" sz="1300" dirty="0">
                          <a:solidFill>
                            <a:srgbClr val="1A2A3A"/>
                          </a:solidFill>
                          <a:latin typeface="Arial" pitchFamily="34" charset="0"/>
                          <a:ea typeface="Arial" pitchFamily="34" charset="-122"/>
                          <a:cs typeface="Arial" pitchFamily="34" charset="-120"/>
                        </a:rPr>
                        <a:t>Vodacom/MTN</a:t>
                      </a:r>
                      <a:endParaRPr lang="en-US" sz="13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1A2A3A"/>
                          </a:solidFill>
                          <a:latin typeface="Arial" pitchFamily="34" charset="0"/>
                          <a:ea typeface="Arial" pitchFamily="34" charset="-122"/>
                          <a:cs typeface="Arial" pitchFamily="34" charset="-120"/>
                        </a:rPr>
                        <a:t>Expensive per GB, throttled “uncapped” plans</a:t>
                      </a:r>
                      <a:endParaRPr lang="en-US" sz="13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1A2A3A"/>
                          </a:solidFill>
                          <a:latin typeface="Arial" pitchFamily="34" charset="0"/>
                          <a:ea typeface="Arial" pitchFamily="34" charset="-122"/>
                          <a:cs typeface="Arial" pitchFamily="34" charset="-120"/>
                        </a:rPr>
                        <a:t>One fixed price, truly uncapped</a:t>
                      </a:r>
                      <a:endParaRPr lang="en-US" sz="13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76072">
                <a:tc>
                  <a:txBody>
                    <a:bodyPr/>
                    <a:lstStyle/>
                    <a:p>
                      <a:pPr indent="0" marL="0">
                        <a:buNone/>
                      </a:pPr>
                      <a:r>
                        <a:rPr lang="en-US" sz="1300" dirty="0">
                          <a:solidFill>
                            <a:srgbClr val="1A2A3A"/>
                          </a:solidFill>
                          <a:latin typeface="Arial" pitchFamily="34" charset="0"/>
                          <a:ea typeface="Arial" pitchFamily="34" charset="-122"/>
                          <a:cs typeface="Arial" pitchFamily="34" charset="-120"/>
                        </a:rPr>
                        <a:t>Fibre (Vumatel)</a:t>
                      </a:r>
                      <a:endParaRPr lang="en-US" sz="13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1A2A3A"/>
                          </a:solidFill>
                          <a:latin typeface="Arial" pitchFamily="34" charset="0"/>
                          <a:ea typeface="Arial" pitchFamily="34" charset="-122"/>
                          <a:cs typeface="Arial" pitchFamily="34" charset="-120"/>
                        </a:rPr>
                        <a:t>Not available in Khayelitsha, expensive</a:t>
                      </a:r>
                      <a:endParaRPr lang="en-US" sz="13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1A2A3A"/>
                          </a:solidFill>
                          <a:latin typeface="Arial" pitchFamily="34" charset="0"/>
                          <a:ea typeface="Arial" pitchFamily="34" charset="-122"/>
                          <a:cs typeface="Arial" pitchFamily="34" charset="-120"/>
                        </a:rPr>
                        <a:t>Wireless, affordable, available</a:t>
                      </a:r>
                      <a:endParaRPr lang="en-US" sz="13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76072">
                <a:tc>
                  <a:txBody>
                    <a:bodyPr/>
                    <a:lstStyle/>
                    <a:p>
                      <a:pPr indent="0" marL="0">
                        <a:buNone/>
                      </a:pPr>
                      <a:r>
                        <a:rPr lang="en-US" sz="1300" dirty="0">
                          <a:solidFill>
                            <a:srgbClr val="1A2A3A"/>
                          </a:solidFill>
                          <a:latin typeface="Arial" pitchFamily="34" charset="0"/>
                          <a:ea typeface="Arial" pitchFamily="34" charset="-122"/>
                          <a:cs typeface="Arial" pitchFamily="34" charset="-120"/>
                        </a:rPr>
                        <a:t>Other WISPs</a:t>
                      </a:r>
                      <a:endParaRPr lang="en-US" sz="13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1A2A3A"/>
                          </a:solidFill>
                          <a:latin typeface="Arial" pitchFamily="34" charset="0"/>
                          <a:ea typeface="Arial" pitchFamily="34" charset="-122"/>
                          <a:cs typeface="Arial" pitchFamily="34" charset="-120"/>
                        </a:rPr>
                        <a:t>Voucher model, unclear support</a:t>
                      </a:r>
                      <a:endParaRPr lang="en-US" sz="13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1A2A3A"/>
                          </a:solidFill>
                          <a:latin typeface="Arial" pitchFamily="34" charset="0"/>
                          <a:ea typeface="Arial" pitchFamily="34" charset="-122"/>
                          <a:cs typeface="Arial" pitchFamily="34" charset="-120"/>
                        </a:rPr>
                        <a:t>Subscription model, local support</a:t>
                      </a:r>
                      <a:endParaRPr lang="en-US" sz="13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5" name="Shape 2"/>
          <p:cNvSpPr/>
          <p:nvPr/>
        </p:nvSpPr>
        <p:spPr>
          <a:xfrm>
            <a:off x="548640" y="4343400"/>
            <a:ext cx="11064240" cy="1463040"/>
          </a:xfrm>
          <a:prstGeom prst="roundRect">
            <a:avLst>
              <a:gd name="adj" fmla="val 5000"/>
            </a:avLst>
          </a:prstGeom>
          <a:solidFill>
            <a:srgbClr val="F5B342"/>
          </a:solidFill>
          <a:ln/>
        </p:spPr>
      </p:sp>
      <p:sp>
        <p:nvSpPr>
          <p:cNvPr id="6" name="Text 3"/>
          <p:cNvSpPr/>
          <p:nvPr/>
        </p:nvSpPr>
        <p:spPr>
          <a:xfrm>
            <a:off x="822960" y="4498848"/>
            <a:ext cx="3657600" cy="274320"/>
          </a:xfrm>
          <a:prstGeom prst="rect">
            <a:avLst/>
          </a:prstGeom>
          <a:noFill/>
          <a:ln/>
        </p:spPr>
        <p:txBody>
          <a:bodyPr wrap="square" rtlCol="0" anchor="ctr"/>
          <a:lstStyle/>
          <a:p>
            <a:pPr indent="0" marL="0">
              <a:buNone/>
            </a:pPr>
            <a:r>
              <a:rPr lang="en-US" sz="1100" b="1" spc="100" kern="0" dirty="0">
                <a:solidFill>
                  <a:srgbClr val="7A5205"/>
                </a:solidFill>
                <a:latin typeface="Arial" pitchFamily="34" charset="0"/>
                <a:ea typeface="Arial" pitchFamily="34" charset="-122"/>
                <a:cs typeface="Arial" pitchFamily="34" charset="-120"/>
              </a:rPr>
              <a:t>USP</a:t>
            </a:r>
            <a:endParaRPr lang="en-US" sz="1100" dirty="0"/>
          </a:p>
        </p:txBody>
      </p:sp>
      <p:sp>
        <p:nvSpPr>
          <p:cNvPr id="7" name="Text 4"/>
          <p:cNvSpPr/>
          <p:nvPr/>
        </p:nvSpPr>
        <p:spPr>
          <a:xfrm>
            <a:off x="822960" y="4773168"/>
            <a:ext cx="10424160" cy="914400"/>
          </a:xfrm>
          <a:prstGeom prst="rect">
            <a:avLst/>
          </a:prstGeom>
          <a:noFill/>
          <a:ln/>
        </p:spPr>
        <p:txBody>
          <a:bodyPr wrap="square" rtlCol="0" anchor="t"/>
          <a:lstStyle/>
          <a:p>
            <a:pPr indent="0" marL="0">
              <a:buNone/>
            </a:pPr>
            <a:r>
              <a:rPr lang="en-US" sz="2400" b="1" dirty="0">
                <a:solidFill>
                  <a:srgbClr val="1A2A3A"/>
                </a:solidFill>
                <a:latin typeface="Arial" pitchFamily="34" charset="0"/>
                <a:ea typeface="Arial" pitchFamily="34" charset="-122"/>
                <a:cs typeface="Arial" pitchFamily="34" charset="-120"/>
              </a:rPr>
              <a:t>“Home Wi-Fi for the Price of Your DStv.”</a:t>
            </a:r>
            <a:endParaRPr lang="en-US" sz="2400" dirty="0"/>
          </a:p>
        </p:txBody>
      </p:sp>
      <p:sp>
        <p:nvSpPr>
          <p:cNvPr id="8" name="Shape 5"/>
          <p:cNvSpPr/>
          <p:nvPr/>
        </p:nvSpPr>
        <p:spPr>
          <a:xfrm>
            <a:off x="457200" y="6400800"/>
            <a:ext cx="292608" cy="292608"/>
          </a:xfrm>
          <a:prstGeom prst="roundRect">
            <a:avLst>
              <a:gd name="adj" fmla="val 16000"/>
            </a:avLst>
          </a:prstGeom>
          <a:solidFill>
            <a:srgbClr val="FFFFFF"/>
          </a:solidFill>
          <a:ln w="12700">
            <a:solidFill>
              <a:srgbClr val="E2E8F0"/>
            </a:solidFill>
            <a:prstDash val="solid"/>
          </a:ln>
        </p:spPr>
      </p:sp>
      <p:pic>
        <p:nvPicPr>
          <p:cNvPr id="9" name="Image 0" descr="/home/claude/ekhaya/logo_icon_square.png">    </p:cNvPr>
          <p:cNvPicPr>
            <a:picLocks noChangeAspect="1"/>
          </p:cNvPicPr>
          <p:nvPr/>
        </p:nvPicPr>
        <p:blipFill>
          <a:blip r:embed="rId1"/>
          <a:stretch>
            <a:fillRect/>
          </a:stretch>
        </p:blipFill>
        <p:spPr>
          <a:xfrm>
            <a:off x="483535" y="6427135"/>
            <a:ext cx="239939" cy="239939"/>
          </a:xfrm>
          <a:prstGeom prst="rect">
            <a:avLst/>
          </a:prstGeom>
        </p:spPr>
      </p:pic>
      <p:sp>
        <p:nvSpPr>
          <p:cNvPr id="10" name="Text 6"/>
          <p:cNvSpPr/>
          <p:nvPr/>
        </p:nvSpPr>
        <p:spPr>
          <a:xfrm>
            <a:off x="841248" y="6419088"/>
            <a:ext cx="4572000" cy="292608"/>
          </a:xfrm>
          <a:prstGeom prst="rect">
            <a:avLst/>
          </a:prstGeom>
          <a:noFill/>
          <a:ln/>
        </p:spPr>
        <p:txBody>
          <a:bodyPr wrap="square" rtlCol="0" anchor="ctr"/>
          <a:lstStyle/>
          <a:p>
            <a:pPr indent="0" marL="0">
              <a:buNone/>
            </a:pPr>
            <a:r>
              <a:rPr lang="en-US" sz="900" dirty="0">
                <a:solidFill>
                  <a:srgbClr val="6C7A8A"/>
                </a:solidFill>
                <a:latin typeface="Arial" pitchFamily="34" charset="0"/>
                <a:ea typeface="Arial" pitchFamily="34" charset="-122"/>
                <a:cs typeface="Arial" pitchFamily="34" charset="-120"/>
              </a:rPr>
              <a:t>eKhaya Connect · Brand Guide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2A3A"/>
        </a:solidFill>
      </p:bgPr>
    </p:bg>
    <p:spTree>
      <p:nvGrpSpPr>
        <p:cNvPr id="1" name=""/>
        <p:cNvGrpSpPr/>
        <p:nvPr/>
      </p:nvGrpSpPr>
      <p:grpSpPr>
        <a:xfrm>
          <a:off x="0" y="0"/>
          <a:ext cx="0" cy="0"/>
          <a:chOff x="0" y="0"/>
          <a:chExt cx="0" cy="0"/>
        </a:xfrm>
      </p:grpSpPr>
      <p:sp>
        <p:nvSpPr>
          <p:cNvPr id="2" name="Shape 0"/>
          <p:cNvSpPr/>
          <p:nvPr/>
        </p:nvSpPr>
        <p:spPr>
          <a:xfrm>
            <a:off x="-1463040" y="4206240"/>
            <a:ext cx="4572000" cy="4572000"/>
          </a:xfrm>
          <a:prstGeom prst="ellipse">
            <a:avLst/>
          </a:prstGeom>
          <a:solidFill>
            <a:srgbClr val="066B2E"/>
          </a:solidFill>
          <a:ln/>
        </p:spPr>
      </p:sp>
      <p:sp>
        <p:nvSpPr>
          <p:cNvPr id="3" name="Shape 1"/>
          <p:cNvSpPr/>
          <p:nvPr/>
        </p:nvSpPr>
        <p:spPr>
          <a:xfrm>
            <a:off x="548640" y="457200"/>
            <a:ext cx="731520" cy="731520"/>
          </a:xfrm>
          <a:prstGeom prst="roundRect">
            <a:avLst>
              <a:gd name="adj" fmla="val 16000"/>
            </a:avLst>
          </a:prstGeom>
          <a:solidFill>
            <a:srgbClr val="FFFFFF"/>
          </a:solidFill>
          <a:ln w="12700">
            <a:solidFill>
              <a:srgbClr val="E2E8F0"/>
            </a:solidFill>
            <a:prstDash val="solid"/>
          </a:ln>
        </p:spPr>
      </p:sp>
      <p:pic>
        <p:nvPicPr>
          <p:cNvPr id="4" name="Image 0" descr="/home/claude/ekhaya/logo_icon_square.png">    </p:cNvPr>
          <p:cNvPicPr>
            <a:picLocks noChangeAspect="1"/>
          </p:cNvPicPr>
          <p:nvPr/>
        </p:nvPicPr>
        <p:blipFill>
          <a:blip r:embed="rId1"/>
          <a:stretch>
            <a:fillRect/>
          </a:stretch>
        </p:blipFill>
        <p:spPr>
          <a:xfrm>
            <a:off x="614477" y="523037"/>
            <a:ext cx="599846" cy="599846"/>
          </a:xfrm>
          <a:prstGeom prst="rect">
            <a:avLst/>
          </a:prstGeom>
        </p:spPr>
      </p:pic>
      <p:sp>
        <p:nvSpPr>
          <p:cNvPr id="5" name="Text 2"/>
          <p:cNvSpPr/>
          <p:nvPr/>
        </p:nvSpPr>
        <p:spPr>
          <a:xfrm>
            <a:off x="1463040" y="457200"/>
            <a:ext cx="7315200" cy="73152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Quick Reference</a:t>
            </a:r>
            <a:endParaRPr lang="en-US" sz="2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109960" cy="2743200"/>
        </p:xfrm>
        <a:graphic>
          <a:graphicData uri="http://schemas.openxmlformats.org/drawingml/2006/table">
            <a:tbl>
              <a:tblPr/>
              <a:tblGrid>
                <a:gridCol w="2011680"/>
                <a:gridCol w="9098280"/>
              </a:tblGrid>
              <a:tr h="457200">
                <a:tc>
                  <a:txBody>
                    <a:bodyPr/>
                    <a:lstStyle/>
                    <a:p>
                      <a:pPr indent="0" marL="0">
                        <a:buNone/>
                      </a:pPr>
                      <a:r>
                        <a:rPr lang="en-US" sz="1250" b="1" dirty="0">
                          <a:solidFill>
                            <a:srgbClr val="F5B342"/>
                          </a:solidFill>
                          <a:latin typeface="Arial" pitchFamily="34" charset="0"/>
                          <a:ea typeface="Arial" pitchFamily="34" charset="-122"/>
                          <a:cs typeface="Arial" pitchFamily="34" charset="-120"/>
                        </a:rPr>
                        <a:t>LOGO</a:t>
                      </a:r>
                      <a:endParaRPr lang="en-US" sz="1250" dirty="0">
                        <a:latin typeface="Arial" charset="0"/>
                        <a:ea typeface="Arial" charset="0"/>
                        <a:cs typeface="Arial" charset="0"/>
                      </a:endParaRPr>
                    </a:p>
                  </a:txBody>
                  <a:tcPr marL="91440" marR="91440" marT="45720" marB="45720" anchor="ctr">
                    <a:lnL w="12700" cap="flat" cmpd="sng" algn="ctr">
                      <a:solidFill>
                        <a:srgbClr val="26384B"/>
                      </a:solidFill>
                      <a:prstDash val="solid"/>
                      <a:round/>
                      <a:headEnd type="none" w="med" len="med"/>
                      <a:tailEnd type="none" w="med" len="med"/>
                    </a:lnL>
                    <a:lnR w="12700" cap="flat" cmpd="sng" algn="ctr">
                      <a:solidFill>
                        <a:srgbClr val="26384B"/>
                      </a:solidFill>
                      <a:prstDash val="solid"/>
                      <a:round/>
                      <a:headEnd type="none" w="med" len="med"/>
                      <a:tailEnd type="none" w="med" len="med"/>
                    </a:lnR>
                    <a:lnT w="12700" cap="flat" cmpd="sng" algn="ctr">
                      <a:solidFill>
                        <a:srgbClr val="26384B"/>
                      </a:solidFill>
                      <a:prstDash val="solid"/>
                      <a:round/>
                      <a:headEnd type="none" w="med" len="med"/>
                      <a:tailEnd type="none" w="med" len="med"/>
                    </a:lnT>
                    <a:lnB w="12700" cap="flat" cmpd="sng" algn="ctr">
                      <a:solidFill>
                        <a:srgbClr val="26384B"/>
                      </a:solidFill>
                      <a:prstDash val="solid"/>
                      <a:round/>
                      <a:headEnd type="none" w="med" len="med"/>
                      <a:tailEnd type="none" w="med" len="med"/>
                    </a:lnB>
                    <a:solidFill>
                      <a:srgbClr val="142234"/>
                    </a:solidFill>
                  </a:tcPr>
                </a:tc>
                <a:tc>
                  <a:txBody>
                    <a:bodyPr/>
                    <a:lstStyle/>
                    <a:p>
                      <a:pPr indent="0" marL="0">
                        <a:buNone/>
                      </a:pPr>
                      <a:r>
                        <a:rPr lang="en-US" sz="1250" dirty="0">
                          <a:solidFill>
                            <a:srgbClr val="FFFFFF"/>
                          </a:solidFill>
                          <a:latin typeface="Arial" pitchFamily="34" charset="0"/>
                          <a:ea typeface="Arial" pitchFamily="34" charset="-122"/>
                          <a:cs typeface="Arial" pitchFamily="34" charset="-120"/>
                        </a:rPr>
                        <a:t>Wi-Fi/rooftop mark + “eKhaya Connect” + tagline</a:t>
                      </a:r>
                      <a:endParaRPr lang="en-US" sz="1250" dirty="0">
                        <a:latin typeface="Arial" charset="0"/>
                        <a:ea typeface="Arial" charset="0"/>
                        <a:cs typeface="Arial" charset="0"/>
                      </a:endParaRPr>
                    </a:p>
                  </a:txBody>
                  <a:tcPr marL="91440" marR="91440" marT="45720" marB="45720" anchor="ctr">
                    <a:lnL w="12700" cap="flat" cmpd="sng" algn="ctr">
                      <a:solidFill>
                        <a:srgbClr val="26384B"/>
                      </a:solidFill>
                      <a:prstDash val="solid"/>
                      <a:round/>
                      <a:headEnd type="none" w="med" len="med"/>
                      <a:tailEnd type="none" w="med" len="med"/>
                    </a:lnL>
                    <a:lnR w="12700" cap="flat" cmpd="sng" algn="ctr">
                      <a:solidFill>
                        <a:srgbClr val="26384B"/>
                      </a:solidFill>
                      <a:prstDash val="solid"/>
                      <a:round/>
                      <a:headEnd type="none" w="med" len="med"/>
                      <a:tailEnd type="none" w="med" len="med"/>
                    </a:lnR>
                    <a:lnT w="12700" cap="flat" cmpd="sng" algn="ctr">
                      <a:solidFill>
                        <a:srgbClr val="26384B"/>
                      </a:solidFill>
                      <a:prstDash val="solid"/>
                      <a:round/>
                      <a:headEnd type="none" w="med" len="med"/>
                      <a:tailEnd type="none" w="med" len="med"/>
                    </a:lnT>
                    <a:lnB w="12700" cap="flat" cmpd="sng" algn="ctr">
                      <a:solidFill>
                        <a:srgbClr val="26384B"/>
                      </a:solidFill>
                      <a:prstDash val="solid"/>
                      <a:round/>
                      <a:headEnd type="none" w="med" len="med"/>
                      <a:tailEnd type="none" w="med" len="med"/>
                    </a:lnB>
                    <a:solidFill>
                      <a:srgbClr val="142234"/>
                    </a:solidFill>
                  </a:tcPr>
                </a:tc>
              </a:tr>
              <a:tr h="457200">
                <a:tc>
                  <a:txBody>
                    <a:bodyPr/>
                    <a:lstStyle/>
                    <a:p>
                      <a:pPr indent="0" marL="0">
                        <a:buNone/>
                      </a:pPr>
                      <a:r>
                        <a:rPr lang="en-US" sz="1250" b="1" dirty="0">
                          <a:solidFill>
                            <a:srgbClr val="F5B342"/>
                          </a:solidFill>
                          <a:latin typeface="Arial" pitchFamily="34" charset="0"/>
                          <a:ea typeface="Arial" pitchFamily="34" charset="-122"/>
                          <a:cs typeface="Arial" pitchFamily="34" charset="-120"/>
                        </a:rPr>
                        <a:t>COLOURS</a:t>
                      </a:r>
                      <a:endParaRPr lang="en-US" sz="1250" dirty="0">
                        <a:latin typeface="Arial" charset="0"/>
                        <a:ea typeface="Arial" charset="0"/>
                        <a:cs typeface="Arial" charset="0"/>
                      </a:endParaRPr>
                    </a:p>
                  </a:txBody>
                  <a:tcPr marL="91440" marR="91440" marT="45720" marB="45720" anchor="ctr">
                    <a:lnL w="12700" cap="flat" cmpd="sng" algn="ctr">
                      <a:solidFill>
                        <a:srgbClr val="26384B"/>
                      </a:solidFill>
                      <a:prstDash val="solid"/>
                      <a:round/>
                      <a:headEnd type="none" w="med" len="med"/>
                      <a:tailEnd type="none" w="med" len="med"/>
                    </a:lnL>
                    <a:lnR w="12700" cap="flat" cmpd="sng" algn="ctr">
                      <a:solidFill>
                        <a:srgbClr val="26384B"/>
                      </a:solidFill>
                      <a:prstDash val="solid"/>
                      <a:round/>
                      <a:headEnd type="none" w="med" len="med"/>
                      <a:tailEnd type="none" w="med" len="med"/>
                    </a:lnR>
                    <a:lnT w="12700" cap="flat" cmpd="sng" algn="ctr">
                      <a:solidFill>
                        <a:srgbClr val="26384B"/>
                      </a:solidFill>
                      <a:prstDash val="solid"/>
                      <a:round/>
                      <a:headEnd type="none" w="med" len="med"/>
                      <a:tailEnd type="none" w="med" len="med"/>
                    </a:lnT>
                    <a:lnB w="12700" cap="flat" cmpd="sng" algn="ctr">
                      <a:solidFill>
                        <a:srgbClr val="26384B"/>
                      </a:solidFill>
                      <a:prstDash val="solid"/>
                      <a:round/>
                      <a:headEnd type="none" w="med" len="med"/>
                      <a:tailEnd type="none" w="med" len="med"/>
                    </a:lnB>
                    <a:solidFill>
                      <a:srgbClr val="142234"/>
                    </a:solidFill>
                  </a:tcPr>
                </a:tc>
                <a:tc>
                  <a:txBody>
                    <a:bodyPr/>
                    <a:lstStyle/>
                    <a:p>
                      <a:pPr indent="0" marL="0">
                        <a:buNone/>
                      </a:pPr>
                      <a:r>
                        <a:rPr lang="en-US" sz="1250" dirty="0">
                          <a:solidFill>
                            <a:srgbClr val="FFFFFF"/>
                          </a:solidFill>
                          <a:latin typeface="Arial" pitchFamily="34" charset="0"/>
                          <a:ea typeface="Arial" pitchFamily="34" charset="-122"/>
                          <a:cs typeface="Arial" pitchFamily="34" charset="-120"/>
                        </a:rPr>
                        <a:t>Green #0B8C3F · Gold #F5B342 · Dark #1A2A3A</a:t>
                      </a:r>
                      <a:endParaRPr lang="en-US" sz="1250" dirty="0">
                        <a:latin typeface="Arial" charset="0"/>
                        <a:ea typeface="Arial" charset="0"/>
                        <a:cs typeface="Arial" charset="0"/>
                      </a:endParaRPr>
                    </a:p>
                  </a:txBody>
                  <a:tcPr marL="91440" marR="91440" marT="45720" marB="45720" anchor="ctr">
                    <a:lnL w="12700" cap="flat" cmpd="sng" algn="ctr">
                      <a:solidFill>
                        <a:srgbClr val="26384B"/>
                      </a:solidFill>
                      <a:prstDash val="solid"/>
                      <a:round/>
                      <a:headEnd type="none" w="med" len="med"/>
                      <a:tailEnd type="none" w="med" len="med"/>
                    </a:lnL>
                    <a:lnR w="12700" cap="flat" cmpd="sng" algn="ctr">
                      <a:solidFill>
                        <a:srgbClr val="26384B"/>
                      </a:solidFill>
                      <a:prstDash val="solid"/>
                      <a:round/>
                      <a:headEnd type="none" w="med" len="med"/>
                      <a:tailEnd type="none" w="med" len="med"/>
                    </a:lnR>
                    <a:lnT w="12700" cap="flat" cmpd="sng" algn="ctr">
                      <a:solidFill>
                        <a:srgbClr val="26384B"/>
                      </a:solidFill>
                      <a:prstDash val="solid"/>
                      <a:round/>
                      <a:headEnd type="none" w="med" len="med"/>
                      <a:tailEnd type="none" w="med" len="med"/>
                    </a:lnT>
                    <a:lnB w="12700" cap="flat" cmpd="sng" algn="ctr">
                      <a:solidFill>
                        <a:srgbClr val="26384B"/>
                      </a:solidFill>
                      <a:prstDash val="solid"/>
                      <a:round/>
                      <a:headEnd type="none" w="med" len="med"/>
                      <a:tailEnd type="none" w="med" len="med"/>
                    </a:lnB>
                    <a:solidFill>
                      <a:srgbClr val="142234"/>
                    </a:solidFill>
                  </a:tcPr>
                </a:tc>
              </a:tr>
              <a:tr h="457200">
                <a:tc>
                  <a:txBody>
                    <a:bodyPr/>
                    <a:lstStyle/>
                    <a:p>
                      <a:pPr indent="0" marL="0">
                        <a:buNone/>
                      </a:pPr>
                      <a:r>
                        <a:rPr lang="en-US" sz="1250" b="1" dirty="0">
                          <a:solidFill>
                            <a:srgbClr val="F5B342"/>
                          </a:solidFill>
                          <a:latin typeface="Arial" pitchFamily="34" charset="0"/>
                          <a:ea typeface="Arial" pitchFamily="34" charset="-122"/>
                          <a:cs typeface="Arial" pitchFamily="34" charset="-120"/>
                        </a:rPr>
                        <a:t>FONT</a:t>
                      </a:r>
                      <a:endParaRPr lang="en-US" sz="1250" dirty="0">
                        <a:latin typeface="Arial" charset="0"/>
                        <a:ea typeface="Arial" charset="0"/>
                        <a:cs typeface="Arial" charset="0"/>
                      </a:endParaRPr>
                    </a:p>
                  </a:txBody>
                  <a:tcPr marL="91440" marR="91440" marT="45720" marB="45720" anchor="ctr">
                    <a:lnL w="12700" cap="flat" cmpd="sng" algn="ctr">
                      <a:solidFill>
                        <a:srgbClr val="26384B"/>
                      </a:solidFill>
                      <a:prstDash val="solid"/>
                      <a:round/>
                      <a:headEnd type="none" w="med" len="med"/>
                      <a:tailEnd type="none" w="med" len="med"/>
                    </a:lnL>
                    <a:lnR w="12700" cap="flat" cmpd="sng" algn="ctr">
                      <a:solidFill>
                        <a:srgbClr val="26384B"/>
                      </a:solidFill>
                      <a:prstDash val="solid"/>
                      <a:round/>
                      <a:headEnd type="none" w="med" len="med"/>
                      <a:tailEnd type="none" w="med" len="med"/>
                    </a:lnR>
                    <a:lnT w="12700" cap="flat" cmpd="sng" algn="ctr">
                      <a:solidFill>
                        <a:srgbClr val="26384B"/>
                      </a:solidFill>
                      <a:prstDash val="solid"/>
                      <a:round/>
                      <a:headEnd type="none" w="med" len="med"/>
                      <a:tailEnd type="none" w="med" len="med"/>
                    </a:lnT>
                    <a:lnB w="12700" cap="flat" cmpd="sng" algn="ctr">
                      <a:solidFill>
                        <a:srgbClr val="26384B"/>
                      </a:solidFill>
                      <a:prstDash val="solid"/>
                      <a:round/>
                      <a:headEnd type="none" w="med" len="med"/>
                      <a:tailEnd type="none" w="med" len="med"/>
                    </a:lnB>
                    <a:solidFill>
                      <a:srgbClr val="142234"/>
                    </a:solidFill>
                  </a:tcPr>
                </a:tc>
                <a:tc>
                  <a:txBody>
                    <a:bodyPr/>
                    <a:lstStyle/>
                    <a:p>
                      <a:pPr indent="0" marL="0">
                        <a:buNone/>
                      </a:pPr>
                      <a:r>
                        <a:rPr lang="en-US" sz="1250" dirty="0">
                          <a:solidFill>
                            <a:srgbClr val="FFFFFF"/>
                          </a:solidFill>
                          <a:latin typeface="Arial" pitchFamily="34" charset="0"/>
                          <a:ea typeface="Arial" pitchFamily="34" charset="-122"/>
                          <a:cs typeface="Arial" pitchFamily="34" charset="-120"/>
                        </a:rPr>
                        <a:t>Inter (800 / 700 / 600 / 400)</a:t>
                      </a:r>
                      <a:endParaRPr lang="en-US" sz="1250" dirty="0">
                        <a:latin typeface="Arial" charset="0"/>
                        <a:ea typeface="Arial" charset="0"/>
                        <a:cs typeface="Arial" charset="0"/>
                      </a:endParaRPr>
                    </a:p>
                  </a:txBody>
                  <a:tcPr marL="91440" marR="91440" marT="45720" marB="45720" anchor="ctr">
                    <a:lnL w="12700" cap="flat" cmpd="sng" algn="ctr">
                      <a:solidFill>
                        <a:srgbClr val="26384B"/>
                      </a:solidFill>
                      <a:prstDash val="solid"/>
                      <a:round/>
                      <a:headEnd type="none" w="med" len="med"/>
                      <a:tailEnd type="none" w="med" len="med"/>
                    </a:lnL>
                    <a:lnR w="12700" cap="flat" cmpd="sng" algn="ctr">
                      <a:solidFill>
                        <a:srgbClr val="26384B"/>
                      </a:solidFill>
                      <a:prstDash val="solid"/>
                      <a:round/>
                      <a:headEnd type="none" w="med" len="med"/>
                      <a:tailEnd type="none" w="med" len="med"/>
                    </a:lnR>
                    <a:lnT w="12700" cap="flat" cmpd="sng" algn="ctr">
                      <a:solidFill>
                        <a:srgbClr val="26384B"/>
                      </a:solidFill>
                      <a:prstDash val="solid"/>
                      <a:round/>
                      <a:headEnd type="none" w="med" len="med"/>
                      <a:tailEnd type="none" w="med" len="med"/>
                    </a:lnT>
                    <a:lnB w="12700" cap="flat" cmpd="sng" algn="ctr">
                      <a:solidFill>
                        <a:srgbClr val="26384B"/>
                      </a:solidFill>
                      <a:prstDash val="solid"/>
                      <a:round/>
                      <a:headEnd type="none" w="med" len="med"/>
                      <a:tailEnd type="none" w="med" len="med"/>
                    </a:lnB>
                    <a:solidFill>
                      <a:srgbClr val="142234"/>
                    </a:solidFill>
                  </a:tcPr>
                </a:tc>
              </a:tr>
              <a:tr h="457200">
                <a:tc>
                  <a:txBody>
                    <a:bodyPr/>
                    <a:lstStyle/>
                    <a:p>
                      <a:pPr indent="0" marL="0">
                        <a:buNone/>
                      </a:pPr>
                      <a:r>
                        <a:rPr lang="en-US" sz="1250" b="1" dirty="0">
                          <a:solidFill>
                            <a:srgbClr val="F5B342"/>
                          </a:solidFill>
                          <a:latin typeface="Arial" pitchFamily="34" charset="0"/>
                          <a:ea typeface="Arial" pitchFamily="34" charset="-122"/>
                          <a:cs typeface="Arial" pitchFamily="34" charset="-120"/>
                        </a:rPr>
                        <a:t>VOICE</a:t>
                      </a:r>
                      <a:endParaRPr lang="en-US" sz="1250" dirty="0">
                        <a:latin typeface="Arial" charset="0"/>
                        <a:ea typeface="Arial" charset="0"/>
                        <a:cs typeface="Arial" charset="0"/>
                      </a:endParaRPr>
                    </a:p>
                  </a:txBody>
                  <a:tcPr marL="91440" marR="91440" marT="45720" marB="45720" anchor="ctr">
                    <a:lnL w="12700" cap="flat" cmpd="sng" algn="ctr">
                      <a:solidFill>
                        <a:srgbClr val="26384B"/>
                      </a:solidFill>
                      <a:prstDash val="solid"/>
                      <a:round/>
                      <a:headEnd type="none" w="med" len="med"/>
                      <a:tailEnd type="none" w="med" len="med"/>
                    </a:lnL>
                    <a:lnR w="12700" cap="flat" cmpd="sng" algn="ctr">
                      <a:solidFill>
                        <a:srgbClr val="26384B"/>
                      </a:solidFill>
                      <a:prstDash val="solid"/>
                      <a:round/>
                      <a:headEnd type="none" w="med" len="med"/>
                      <a:tailEnd type="none" w="med" len="med"/>
                    </a:lnR>
                    <a:lnT w="12700" cap="flat" cmpd="sng" algn="ctr">
                      <a:solidFill>
                        <a:srgbClr val="26384B"/>
                      </a:solidFill>
                      <a:prstDash val="solid"/>
                      <a:round/>
                      <a:headEnd type="none" w="med" len="med"/>
                      <a:tailEnd type="none" w="med" len="med"/>
                    </a:lnT>
                    <a:lnB w="12700" cap="flat" cmpd="sng" algn="ctr">
                      <a:solidFill>
                        <a:srgbClr val="26384B"/>
                      </a:solidFill>
                      <a:prstDash val="solid"/>
                      <a:round/>
                      <a:headEnd type="none" w="med" len="med"/>
                      <a:tailEnd type="none" w="med" len="med"/>
                    </a:lnB>
                    <a:solidFill>
                      <a:srgbClr val="142234"/>
                    </a:solidFill>
                  </a:tcPr>
                </a:tc>
                <a:tc>
                  <a:txBody>
                    <a:bodyPr/>
                    <a:lstStyle/>
                    <a:p>
                      <a:pPr indent="0" marL="0">
                        <a:buNone/>
                      </a:pPr>
                      <a:r>
                        <a:rPr lang="en-US" sz="1250" dirty="0">
                          <a:solidFill>
                            <a:srgbClr val="FFFFFF"/>
                          </a:solidFill>
                          <a:latin typeface="Arial" pitchFamily="34" charset="0"/>
                          <a:ea typeface="Arial" pitchFamily="34" charset="-122"/>
                          <a:cs typeface="Arial" pitchFamily="34" charset="-120"/>
                        </a:rPr>
                        <a:t>Warm · Clear · Confident · Empowering</a:t>
                      </a:r>
                      <a:endParaRPr lang="en-US" sz="1250" dirty="0">
                        <a:latin typeface="Arial" charset="0"/>
                        <a:ea typeface="Arial" charset="0"/>
                        <a:cs typeface="Arial" charset="0"/>
                      </a:endParaRPr>
                    </a:p>
                  </a:txBody>
                  <a:tcPr marL="91440" marR="91440" marT="45720" marB="45720" anchor="ctr">
                    <a:lnL w="12700" cap="flat" cmpd="sng" algn="ctr">
                      <a:solidFill>
                        <a:srgbClr val="26384B"/>
                      </a:solidFill>
                      <a:prstDash val="solid"/>
                      <a:round/>
                      <a:headEnd type="none" w="med" len="med"/>
                      <a:tailEnd type="none" w="med" len="med"/>
                    </a:lnL>
                    <a:lnR w="12700" cap="flat" cmpd="sng" algn="ctr">
                      <a:solidFill>
                        <a:srgbClr val="26384B"/>
                      </a:solidFill>
                      <a:prstDash val="solid"/>
                      <a:round/>
                      <a:headEnd type="none" w="med" len="med"/>
                      <a:tailEnd type="none" w="med" len="med"/>
                    </a:lnR>
                    <a:lnT w="12700" cap="flat" cmpd="sng" algn="ctr">
                      <a:solidFill>
                        <a:srgbClr val="26384B"/>
                      </a:solidFill>
                      <a:prstDash val="solid"/>
                      <a:round/>
                      <a:headEnd type="none" w="med" len="med"/>
                      <a:tailEnd type="none" w="med" len="med"/>
                    </a:lnT>
                    <a:lnB w="12700" cap="flat" cmpd="sng" algn="ctr">
                      <a:solidFill>
                        <a:srgbClr val="26384B"/>
                      </a:solidFill>
                      <a:prstDash val="solid"/>
                      <a:round/>
                      <a:headEnd type="none" w="med" len="med"/>
                      <a:tailEnd type="none" w="med" len="med"/>
                    </a:lnB>
                    <a:solidFill>
                      <a:srgbClr val="142234"/>
                    </a:solidFill>
                  </a:tcPr>
                </a:tc>
              </a:tr>
              <a:tr h="457200">
                <a:tc>
                  <a:txBody>
                    <a:bodyPr/>
                    <a:lstStyle/>
                    <a:p>
                      <a:pPr indent="0" marL="0">
                        <a:buNone/>
                      </a:pPr>
                      <a:r>
                        <a:rPr lang="en-US" sz="1250" b="1" dirty="0">
                          <a:solidFill>
                            <a:srgbClr val="F5B342"/>
                          </a:solidFill>
                          <a:latin typeface="Arial" pitchFamily="34" charset="0"/>
                          <a:ea typeface="Arial" pitchFamily="34" charset="-122"/>
                          <a:cs typeface="Arial" pitchFamily="34" charset="-120"/>
                        </a:rPr>
                        <a:t>TAGLINE</a:t>
                      </a:r>
                      <a:endParaRPr lang="en-US" sz="1250" dirty="0">
                        <a:latin typeface="Arial" charset="0"/>
                        <a:ea typeface="Arial" charset="0"/>
                        <a:cs typeface="Arial" charset="0"/>
                      </a:endParaRPr>
                    </a:p>
                  </a:txBody>
                  <a:tcPr marL="91440" marR="91440" marT="45720" marB="45720" anchor="ctr">
                    <a:lnL w="12700" cap="flat" cmpd="sng" algn="ctr">
                      <a:solidFill>
                        <a:srgbClr val="26384B"/>
                      </a:solidFill>
                      <a:prstDash val="solid"/>
                      <a:round/>
                      <a:headEnd type="none" w="med" len="med"/>
                      <a:tailEnd type="none" w="med" len="med"/>
                    </a:lnL>
                    <a:lnR w="12700" cap="flat" cmpd="sng" algn="ctr">
                      <a:solidFill>
                        <a:srgbClr val="26384B"/>
                      </a:solidFill>
                      <a:prstDash val="solid"/>
                      <a:round/>
                      <a:headEnd type="none" w="med" len="med"/>
                      <a:tailEnd type="none" w="med" len="med"/>
                    </a:lnR>
                    <a:lnT w="12700" cap="flat" cmpd="sng" algn="ctr">
                      <a:solidFill>
                        <a:srgbClr val="26384B"/>
                      </a:solidFill>
                      <a:prstDash val="solid"/>
                      <a:round/>
                      <a:headEnd type="none" w="med" len="med"/>
                      <a:tailEnd type="none" w="med" len="med"/>
                    </a:lnT>
                    <a:lnB w="12700" cap="flat" cmpd="sng" algn="ctr">
                      <a:solidFill>
                        <a:srgbClr val="26384B"/>
                      </a:solidFill>
                      <a:prstDash val="solid"/>
                      <a:round/>
                      <a:headEnd type="none" w="med" len="med"/>
                      <a:tailEnd type="none" w="med" len="med"/>
                    </a:lnB>
                    <a:solidFill>
                      <a:srgbClr val="142234"/>
                    </a:solidFill>
                  </a:tcPr>
                </a:tc>
                <a:tc>
                  <a:txBody>
                    <a:bodyPr/>
                    <a:lstStyle/>
                    <a:p>
                      <a:pPr indent="0" marL="0">
                        <a:buNone/>
                      </a:pPr>
                      <a:r>
                        <a:rPr lang="en-US" sz="1250" dirty="0">
                          <a:solidFill>
                            <a:srgbClr val="FFFFFF"/>
                          </a:solidFill>
                          <a:latin typeface="Arial" pitchFamily="34" charset="0"/>
                          <a:ea typeface="Arial" pitchFamily="34" charset="-122"/>
                          <a:cs typeface="Arial" pitchFamily="34" charset="-120"/>
                        </a:rPr>
                        <a:t>“Connecting Homes · Empowering Communities”</a:t>
                      </a:r>
                      <a:endParaRPr lang="en-US" sz="1250" dirty="0">
                        <a:latin typeface="Arial" charset="0"/>
                        <a:ea typeface="Arial" charset="0"/>
                        <a:cs typeface="Arial" charset="0"/>
                      </a:endParaRPr>
                    </a:p>
                  </a:txBody>
                  <a:tcPr marL="91440" marR="91440" marT="45720" marB="45720" anchor="ctr">
                    <a:lnL w="12700" cap="flat" cmpd="sng" algn="ctr">
                      <a:solidFill>
                        <a:srgbClr val="26384B"/>
                      </a:solidFill>
                      <a:prstDash val="solid"/>
                      <a:round/>
                      <a:headEnd type="none" w="med" len="med"/>
                      <a:tailEnd type="none" w="med" len="med"/>
                    </a:lnL>
                    <a:lnR w="12700" cap="flat" cmpd="sng" algn="ctr">
                      <a:solidFill>
                        <a:srgbClr val="26384B"/>
                      </a:solidFill>
                      <a:prstDash val="solid"/>
                      <a:round/>
                      <a:headEnd type="none" w="med" len="med"/>
                      <a:tailEnd type="none" w="med" len="med"/>
                    </a:lnR>
                    <a:lnT w="12700" cap="flat" cmpd="sng" algn="ctr">
                      <a:solidFill>
                        <a:srgbClr val="26384B"/>
                      </a:solidFill>
                      <a:prstDash val="solid"/>
                      <a:round/>
                      <a:headEnd type="none" w="med" len="med"/>
                      <a:tailEnd type="none" w="med" len="med"/>
                    </a:lnT>
                    <a:lnB w="12700" cap="flat" cmpd="sng" algn="ctr">
                      <a:solidFill>
                        <a:srgbClr val="26384B"/>
                      </a:solidFill>
                      <a:prstDash val="solid"/>
                      <a:round/>
                      <a:headEnd type="none" w="med" len="med"/>
                      <a:tailEnd type="none" w="med" len="med"/>
                    </a:lnB>
                    <a:solidFill>
                      <a:srgbClr val="142234"/>
                    </a:solidFill>
                  </a:tcPr>
                </a:tc>
              </a:tr>
              <a:tr h="457200">
                <a:tc>
                  <a:txBody>
                    <a:bodyPr/>
                    <a:lstStyle/>
                    <a:p>
                      <a:pPr indent="0" marL="0">
                        <a:buNone/>
                      </a:pPr>
                      <a:r>
                        <a:rPr lang="en-US" sz="1250" b="1" dirty="0">
                          <a:solidFill>
                            <a:srgbClr val="F5B342"/>
                          </a:solidFill>
                          <a:latin typeface="Arial" pitchFamily="34" charset="0"/>
                          <a:ea typeface="Arial" pitchFamily="34" charset="-122"/>
                          <a:cs typeface="Arial" pitchFamily="34" charset="-120"/>
                        </a:rPr>
                        <a:t>USP</a:t>
                      </a:r>
                      <a:endParaRPr lang="en-US" sz="1250" dirty="0">
                        <a:latin typeface="Arial" charset="0"/>
                        <a:ea typeface="Arial" charset="0"/>
                        <a:cs typeface="Arial" charset="0"/>
                      </a:endParaRPr>
                    </a:p>
                  </a:txBody>
                  <a:tcPr marL="91440" marR="91440" marT="45720" marB="45720" anchor="ctr">
                    <a:lnL w="12700" cap="flat" cmpd="sng" algn="ctr">
                      <a:solidFill>
                        <a:srgbClr val="26384B"/>
                      </a:solidFill>
                      <a:prstDash val="solid"/>
                      <a:round/>
                      <a:headEnd type="none" w="med" len="med"/>
                      <a:tailEnd type="none" w="med" len="med"/>
                    </a:lnL>
                    <a:lnR w="12700" cap="flat" cmpd="sng" algn="ctr">
                      <a:solidFill>
                        <a:srgbClr val="26384B"/>
                      </a:solidFill>
                      <a:prstDash val="solid"/>
                      <a:round/>
                      <a:headEnd type="none" w="med" len="med"/>
                      <a:tailEnd type="none" w="med" len="med"/>
                    </a:lnR>
                    <a:lnT w="12700" cap="flat" cmpd="sng" algn="ctr">
                      <a:solidFill>
                        <a:srgbClr val="26384B"/>
                      </a:solidFill>
                      <a:prstDash val="solid"/>
                      <a:round/>
                      <a:headEnd type="none" w="med" len="med"/>
                      <a:tailEnd type="none" w="med" len="med"/>
                    </a:lnT>
                    <a:lnB w="12700" cap="flat" cmpd="sng" algn="ctr">
                      <a:solidFill>
                        <a:srgbClr val="26384B"/>
                      </a:solidFill>
                      <a:prstDash val="solid"/>
                      <a:round/>
                      <a:headEnd type="none" w="med" len="med"/>
                      <a:tailEnd type="none" w="med" len="med"/>
                    </a:lnB>
                    <a:solidFill>
                      <a:srgbClr val="142234"/>
                    </a:solidFill>
                  </a:tcPr>
                </a:tc>
                <a:tc>
                  <a:txBody>
                    <a:bodyPr/>
                    <a:lstStyle/>
                    <a:p>
                      <a:pPr indent="0" marL="0">
                        <a:buNone/>
                      </a:pPr>
                      <a:r>
                        <a:rPr lang="en-US" sz="1250" dirty="0">
                          <a:solidFill>
                            <a:srgbClr val="FFFFFF"/>
                          </a:solidFill>
                          <a:latin typeface="Arial" pitchFamily="34" charset="0"/>
                          <a:ea typeface="Arial" pitchFamily="34" charset="-122"/>
                          <a:cs typeface="Arial" pitchFamily="34" charset="-120"/>
                        </a:rPr>
                        <a:t>“Home Wi-Fi for the Price of Your DStv”</a:t>
                      </a:r>
                      <a:endParaRPr lang="en-US" sz="1250" dirty="0">
                        <a:latin typeface="Arial" charset="0"/>
                        <a:ea typeface="Arial" charset="0"/>
                        <a:cs typeface="Arial" charset="0"/>
                      </a:endParaRPr>
                    </a:p>
                  </a:txBody>
                  <a:tcPr marL="91440" marR="91440" marT="45720" marB="45720" anchor="ctr">
                    <a:lnL w="12700" cap="flat" cmpd="sng" algn="ctr">
                      <a:solidFill>
                        <a:srgbClr val="26384B"/>
                      </a:solidFill>
                      <a:prstDash val="solid"/>
                      <a:round/>
                      <a:headEnd type="none" w="med" len="med"/>
                      <a:tailEnd type="none" w="med" len="med"/>
                    </a:lnL>
                    <a:lnR w="12700" cap="flat" cmpd="sng" algn="ctr">
                      <a:solidFill>
                        <a:srgbClr val="26384B"/>
                      </a:solidFill>
                      <a:prstDash val="solid"/>
                      <a:round/>
                      <a:headEnd type="none" w="med" len="med"/>
                      <a:tailEnd type="none" w="med" len="med"/>
                    </a:lnR>
                    <a:lnT w="12700" cap="flat" cmpd="sng" algn="ctr">
                      <a:solidFill>
                        <a:srgbClr val="26384B"/>
                      </a:solidFill>
                      <a:prstDash val="solid"/>
                      <a:round/>
                      <a:headEnd type="none" w="med" len="med"/>
                      <a:tailEnd type="none" w="med" len="med"/>
                    </a:lnT>
                    <a:lnB w="12700" cap="flat" cmpd="sng" algn="ctr">
                      <a:solidFill>
                        <a:srgbClr val="26384B"/>
                      </a:solidFill>
                      <a:prstDash val="solid"/>
                      <a:round/>
                      <a:headEnd type="none" w="med" len="med"/>
                      <a:tailEnd type="none" w="med" len="med"/>
                    </a:lnB>
                    <a:solidFill>
                      <a:srgbClr val="142234"/>
                    </a:solidFill>
                  </a:tcPr>
                </a:tc>
              </a:tr>
            </a:tbl>
          </a:graphicData>
        </a:graphic>
      </p:graphicFrame>
      <p:sp>
        <p:nvSpPr>
          <p:cNvPr id="7" name="Shape 3"/>
          <p:cNvSpPr/>
          <p:nvPr/>
        </p:nvSpPr>
        <p:spPr>
          <a:xfrm>
            <a:off x="548640" y="4434840"/>
            <a:ext cx="11064240" cy="1371600"/>
          </a:xfrm>
          <a:prstGeom prst="roundRect">
            <a:avLst>
              <a:gd name="adj" fmla="val 5333"/>
            </a:avLst>
          </a:prstGeom>
          <a:solidFill>
            <a:srgbClr val="142234"/>
          </a:solidFill>
          <a:ln w="12700">
            <a:solidFill>
              <a:srgbClr val="26384B"/>
            </a:solidFill>
            <a:prstDash val="solid"/>
          </a:ln>
        </p:spPr>
      </p:sp>
      <p:sp>
        <p:nvSpPr>
          <p:cNvPr id="8" name="Text 4"/>
          <p:cNvSpPr/>
          <p:nvPr/>
        </p:nvSpPr>
        <p:spPr>
          <a:xfrm>
            <a:off x="868680" y="4617720"/>
            <a:ext cx="3657600" cy="274320"/>
          </a:xfrm>
          <a:prstGeom prst="rect">
            <a:avLst/>
          </a:prstGeom>
          <a:noFill/>
          <a:ln/>
        </p:spPr>
        <p:txBody>
          <a:bodyPr wrap="square" rtlCol="0" anchor="ctr"/>
          <a:lstStyle/>
          <a:p>
            <a:pPr indent="0" marL="0">
              <a:buNone/>
            </a:pPr>
            <a:r>
              <a:rPr lang="en-US" sz="1100" b="1" spc="100" kern="0" dirty="0">
                <a:solidFill>
                  <a:srgbClr val="F5B342"/>
                </a:solidFill>
                <a:latin typeface="Arial" pitchFamily="34" charset="0"/>
                <a:ea typeface="Arial" pitchFamily="34" charset="-122"/>
                <a:cs typeface="Arial" pitchFamily="34" charset="-120"/>
              </a:rPr>
              <a:t>GET IN TOUCH</a:t>
            </a:r>
            <a:endParaRPr lang="en-US" sz="1100" dirty="0"/>
          </a:p>
        </p:txBody>
      </p:sp>
      <p:sp>
        <p:nvSpPr>
          <p:cNvPr id="9" name="Text 5"/>
          <p:cNvSpPr/>
          <p:nvPr/>
        </p:nvSpPr>
        <p:spPr>
          <a:xfrm>
            <a:off x="868680" y="4937760"/>
            <a:ext cx="3657600" cy="36576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063 328 4693</a:t>
            </a:r>
            <a:endParaRPr lang="en-US" sz="1600" dirty="0"/>
          </a:p>
        </p:txBody>
      </p:sp>
      <p:sp>
        <p:nvSpPr>
          <p:cNvPr id="10" name="Text 6"/>
          <p:cNvSpPr/>
          <p:nvPr/>
        </p:nvSpPr>
        <p:spPr>
          <a:xfrm>
            <a:off x="868680" y="5285232"/>
            <a:ext cx="3657600" cy="274320"/>
          </a:xfrm>
          <a:prstGeom prst="rect">
            <a:avLst/>
          </a:prstGeom>
          <a:noFill/>
          <a:ln/>
        </p:spPr>
        <p:txBody>
          <a:bodyPr wrap="square" rtlCol="0" anchor="ctr"/>
          <a:lstStyle/>
          <a:p>
            <a:pPr indent="0" marL="0">
              <a:buNone/>
            </a:pPr>
            <a:r>
              <a:rPr lang="en-US" sz="1000" dirty="0">
                <a:solidFill>
                  <a:srgbClr val="9AAAB8"/>
                </a:solidFill>
                <a:latin typeface="Arial" pitchFamily="34" charset="0"/>
                <a:ea typeface="Arial" pitchFamily="34" charset="-122"/>
                <a:cs typeface="Arial" pitchFamily="34" charset="-120"/>
              </a:rPr>
              <a:t>Phone &amp; WhatsApp</a:t>
            </a:r>
            <a:endParaRPr lang="en-US" sz="1000" dirty="0"/>
          </a:p>
        </p:txBody>
      </p:sp>
      <p:sp>
        <p:nvSpPr>
          <p:cNvPr id="11" name="Text 7"/>
          <p:cNvSpPr/>
          <p:nvPr/>
        </p:nvSpPr>
        <p:spPr>
          <a:xfrm>
            <a:off x="4663440" y="4937760"/>
            <a:ext cx="4114800" cy="36576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info@ekhayaconnect.co.za</a:t>
            </a:r>
            <a:endParaRPr lang="en-US" sz="1600" dirty="0"/>
          </a:p>
        </p:txBody>
      </p:sp>
      <p:sp>
        <p:nvSpPr>
          <p:cNvPr id="12" name="Text 8"/>
          <p:cNvSpPr/>
          <p:nvPr/>
        </p:nvSpPr>
        <p:spPr>
          <a:xfrm>
            <a:off x="4663440" y="5285232"/>
            <a:ext cx="3657600" cy="274320"/>
          </a:xfrm>
          <a:prstGeom prst="rect">
            <a:avLst/>
          </a:prstGeom>
          <a:noFill/>
          <a:ln/>
        </p:spPr>
        <p:txBody>
          <a:bodyPr wrap="square" rtlCol="0" anchor="ctr"/>
          <a:lstStyle/>
          <a:p>
            <a:pPr indent="0" marL="0">
              <a:buNone/>
            </a:pPr>
            <a:r>
              <a:rPr lang="en-US" sz="1000" dirty="0">
                <a:solidFill>
                  <a:srgbClr val="9AAAB8"/>
                </a:solidFill>
                <a:latin typeface="Arial" pitchFamily="34" charset="0"/>
                <a:ea typeface="Arial" pitchFamily="34" charset="-122"/>
                <a:cs typeface="Arial" pitchFamily="34" charset="-120"/>
              </a:rPr>
              <a:t>Email</a:t>
            </a:r>
            <a:endParaRPr lang="en-US" sz="1000" dirty="0"/>
          </a:p>
        </p:txBody>
      </p:sp>
      <p:sp>
        <p:nvSpPr>
          <p:cNvPr id="13" name="Text 9"/>
          <p:cNvSpPr/>
          <p:nvPr/>
        </p:nvSpPr>
        <p:spPr>
          <a:xfrm>
            <a:off x="8503920" y="4937760"/>
            <a:ext cx="2926080" cy="2743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sikhutazejoseph.github.io/</a:t>
            </a:r>
            <a:endParaRPr lang="en-US" sz="1200" dirty="0"/>
          </a:p>
        </p:txBody>
      </p:sp>
      <p:sp>
        <p:nvSpPr>
          <p:cNvPr id="14" name="Text 10"/>
          <p:cNvSpPr/>
          <p:nvPr/>
        </p:nvSpPr>
        <p:spPr>
          <a:xfrm>
            <a:off x="8503920" y="5193792"/>
            <a:ext cx="2926080" cy="2743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khayelitsha---connect/</a:t>
            </a:r>
            <a:endParaRPr lang="en-US" sz="1200" dirty="0"/>
          </a:p>
        </p:txBody>
      </p:sp>
      <p:sp>
        <p:nvSpPr>
          <p:cNvPr id="15" name="Text 11"/>
          <p:cNvSpPr/>
          <p:nvPr/>
        </p:nvSpPr>
        <p:spPr>
          <a:xfrm>
            <a:off x="8503920" y="5486400"/>
            <a:ext cx="2926080" cy="274320"/>
          </a:xfrm>
          <a:prstGeom prst="rect">
            <a:avLst/>
          </a:prstGeom>
          <a:noFill/>
          <a:ln/>
        </p:spPr>
        <p:txBody>
          <a:bodyPr wrap="square" rtlCol="0" anchor="ctr"/>
          <a:lstStyle/>
          <a:p>
            <a:pPr indent="0" marL="0">
              <a:buNone/>
            </a:pPr>
            <a:r>
              <a:rPr lang="en-US" sz="1000" dirty="0">
                <a:solidFill>
                  <a:srgbClr val="9AAAB8"/>
                </a:solidFill>
                <a:latin typeface="Arial" pitchFamily="34" charset="0"/>
                <a:ea typeface="Arial" pitchFamily="34" charset="-122"/>
                <a:cs typeface="Arial" pitchFamily="34" charset="-120"/>
              </a:rPr>
              <a:t>Website</a:t>
            </a:r>
            <a:endParaRPr lang="en-US" sz="1000" dirty="0"/>
          </a:p>
        </p:txBody>
      </p:sp>
      <p:sp>
        <p:nvSpPr>
          <p:cNvPr id="16" name="Text 12"/>
          <p:cNvSpPr/>
          <p:nvPr/>
        </p:nvSpPr>
        <p:spPr>
          <a:xfrm>
            <a:off x="548640" y="6172200"/>
            <a:ext cx="7315200" cy="365760"/>
          </a:xfrm>
          <a:prstGeom prst="rect">
            <a:avLst/>
          </a:prstGeom>
          <a:noFill/>
          <a:ln/>
        </p:spPr>
        <p:txBody>
          <a:bodyPr wrap="square" rtlCol="0" anchor="ctr"/>
          <a:lstStyle/>
          <a:p>
            <a:pPr indent="0" marL="0">
              <a:buNone/>
            </a:pPr>
            <a:r>
              <a:rPr lang="en-US" sz="1100" i="1" dirty="0">
                <a:solidFill>
                  <a:srgbClr val="9AAAB8"/>
                </a:solidFill>
                <a:latin typeface="Arial" pitchFamily="34" charset="0"/>
                <a:ea typeface="Arial" pitchFamily="34" charset="-122"/>
                <a:cs typeface="Arial" pitchFamily="34" charset="-120"/>
              </a:rPr>
              <a:t>Connecting Homes · Empowering Communities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2026-08-06T10:04:16Z</dcterms:created>
  <dcterms:modified xsi:type="dcterms:W3CDTF">2026-08-06T10:04:16Z</dcterms:modified>
</cp:coreProperties>
</file>